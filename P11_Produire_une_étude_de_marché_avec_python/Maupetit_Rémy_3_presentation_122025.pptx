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6" r:id="rId8"/>
    <p:sldId id="273" r:id="rId9"/>
    <p:sldId id="274" r:id="rId10"/>
    <p:sldId id="292" r:id="rId11"/>
    <p:sldId id="277" r:id="rId12"/>
    <p:sldId id="278" r:id="rId13"/>
    <p:sldId id="268" r:id="rId14"/>
    <p:sldId id="280" r:id="rId15"/>
    <p:sldId id="281" r:id="rId16"/>
    <p:sldId id="285" r:id="rId17"/>
    <p:sldId id="289" r:id="rId18"/>
    <p:sldId id="290" r:id="rId19"/>
    <p:sldId id="282" r:id="rId20"/>
    <p:sldId id="284" r:id="rId21"/>
    <p:sldId id="269" r:id="rId22"/>
    <p:sldId id="291" r:id="rId23"/>
    <p:sldId id="286" r:id="rId24"/>
    <p:sldId id="287" r:id="rId25"/>
    <p:sldId id="288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633C"/>
    <a:srgbClr val="2C5A31"/>
    <a:srgbClr val="699841"/>
    <a:srgbClr val="5C8060"/>
    <a:srgbClr val="83B330"/>
    <a:srgbClr val="AECD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520726EA-7B3E-0D4B-5293-9CB0D719FF46}"/>
              </a:ext>
            </a:extLst>
          </p:cNvPr>
          <p:cNvGrpSpPr/>
          <p:nvPr/>
        </p:nvGrpSpPr>
        <p:grpSpPr>
          <a:xfrm>
            <a:off x="-37" y="-8467"/>
            <a:ext cx="12192042" cy="6866467"/>
            <a:chOff x="-37" y="-8467"/>
            <a:chExt cx="12192042" cy="6866467"/>
          </a:xfrm>
        </p:grpSpPr>
        <p:cxnSp>
          <p:nvCxnSpPr>
            <p:cNvPr id="3" name="Straight Connector 31">
              <a:extLst>
                <a:ext uri="{FF2B5EF4-FFF2-40B4-BE49-F238E27FC236}">
                  <a16:creationId xmlns:a16="http://schemas.microsoft.com/office/drawing/2014/main" id="{D6CE45FB-8FE4-3C72-E6C6-544D2654F65C}"/>
                </a:ext>
              </a:extLst>
            </p:cNvPr>
            <p:cNvCxnSpPr/>
            <p:nvPr/>
          </p:nvCxnSpPr>
          <p:spPr>
            <a:xfrm>
              <a:off x="9371008" y="0"/>
              <a:ext cx="1219207" cy="6858000"/>
            </a:xfrm>
            <a:prstGeom prst="straightConnector1">
              <a:avLst/>
            </a:prstGeom>
            <a:noFill/>
            <a:ln w="9528" cap="rnd">
              <a:solidFill>
                <a:srgbClr val="BFBFBF"/>
              </a:solidFill>
              <a:prstDash val="solid"/>
              <a:miter/>
            </a:ln>
          </p:spPr>
        </p:cxnSp>
        <p:cxnSp>
          <p:nvCxnSpPr>
            <p:cNvPr id="4" name="Straight Connector 20">
              <a:extLst>
                <a:ext uri="{FF2B5EF4-FFF2-40B4-BE49-F238E27FC236}">
                  <a16:creationId xmlns:a16="http://schemas.microsoft.com/office/drawing/2014/main" id="{B462A7B6-2907-E020-4447-EFC5A0FA0D7C}"/>
                </a:ext>
              </a:extLst>
            </p:cNvPr>
            <p:cNvCxnSpPr/>
            <p:nvPr/>
          </p:nvCxnSpPr>
          <p:spPr>
            <a:xfrm flipH="1">
              <a:off x="7425266" y="3681410"/>
              <a:ext cx="4763557" cy="3176590"/>
            </a:xfrm>
            <a:prstGeom prst="straightConnector1">
              <a:avLst/>
            </a:prstGeom>
            <a:noFill/>
            <a:ln w="9528" cap="rnd">
              <a:solidFill>
                <a:srgbClr val="D9D9D9"/>
              </a:solidFill>
              <a:prstDash val="solid"/>
              <a:miter/>
            </a:ln>
          </p:spPr>
        </p:cxnSp>
        <p:sp>
          <p:nvSpPr>
            <p:cNvPr id="5" name="Rectangle 23">
              <a:extLst>
                <a:ext uri="{FF2B5EF4-FFF2-40B4-BE49-F238E27FC236}">
                  <a16:creationId xmlns:a16="http://schemas.microsoft.com/office/drawing/2014/main" id="{B3ED2D3E-DAA2-C359-3150-8EC82DCEA2A6}"/>
                </a:ext>
              </a:extLst>
            </p:cNvPr>
            <p:cNvSpPr/>
            <p:nvPr/>
          </p:nvSpPr>
          <p:spPr>
            <a:xfrm>
              <a:off x="9181472" y="-8467"/>
              <a:ext cx="3007351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007349"/>
                <a:gd name="f4" fmla="val 6866467"/>
                <a:gd name="f5" fmla="val 2045532"/>
                <a:gd name="f6" fmla="*/ f0 1 3007349"/>
                <a:gd name="f7" fmla="*/ f1 1 6866467"/>
                <a:gd name="f8" fmla="+- f4 0 f2"/>
                <a:gd name="f9" fmla="+- f3 0 f2"/>
                <a:gd name="f10" fmla="*/ f9 1 3007349"/>
                <a:gd name="f11" fmla="*/ f8 1 6866467"/>
                <a:gd name="f12" fmla="*/ f2 1 f10"/>
                <a:gd name="f13" fmla="*/ f3 1 f10"/>
                <a:gd name="f14" fmla="*/ f2 1 f11"/>
                <a:gd name="f15" fmla="*/ f4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3007349" h="6866467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Rectangle 25">
              <a:extLst>
                <a:ext uri="{FF2B5EF4-FFF2-40B4-BE49-F238E27FC236}">
                  <a16:creationId xmlns:a16="http://schemas.microsoft.com/office/drawing/2014/main" id="{BB314483-DF27-E282-7ED2-595880DF0E06}"/>
                </a:ext>
              </a:extLst>
            </p:cNvPr>
            <p:cNvSpPr/>
            <p:nvPr/>
          </p:nvSpPr>
          <p:spPr>
            <a:xfrm>
              <a:off x="9603440" y="-8467"/>
              <a:ext cx="2588556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573311"/>
                <a:gd name="f4" fmla="val 6866467"/>
                <a:gd name="f5" fmla="val 1202336"/>
                <a:gd name="f6" fmla="*/ f0 1 2573311"/>
                <a:gd name="f7" fmla="*/ f1 1 6866467"/>
                <a:gd name="f8" fmla="+- f4 0 f2"/>
                <a:gd name="f9" fmla="+- f3 0 f2"/>
                <a:gd name="f10" fmla="*/ f9 1 2573311"/>
                <a:gd name="f11" fmla="*/ f8 1 6866467"/>
                <a:gd name="f12" fmla="*/ f2 1 f10"/>
                <a:gd name="f13" fmla="*/ f3 1 f10"/>
                <a:gd name="f14" fmla="*/ f2 1 f11"/>
                <a:gd name="f15" fmla="*/ f4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2573311" h="6866467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Isosceles Triangle 26">
              <a:extLst>
                <a:ext uri="{FF2B5EF4-FFF2-40B4-BE49-F238E27FC236}">
                  <a16:creationId xmlns:a16="http://schemas.microsoft.com/office/drawing/2014/main" id="{B717EEBB-3212-4DBB-50BF-C3198D80C8B8}"/>
                </a:ext>
              </a:extLst>
            </p:cNvPr>
            <p:cNvSpPr/>
            <p:nvPr/>
          </p:nvSpPr>
          <p:spPr>
            <a:xfrm>
              <a:off x="8932334" y="3047996"/>
              <a:ext cx="3259671" cy="38100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val 100000"/>
                <a:gd name="f8" fmla="+- 0 0 -360"/>
                <a:gd name="f9" fmla="+- 0 0 -270"/>
                <a:gd name="f10" fmla="+- 0 0 -180"/>
                <a:gd name="f11" fmla="+- 0 0 -90"/>
                <a:gd name="f12" fmla="abs f3"/>
                <a:gd name="f13" fmla="abs f4"/>
                <a:gd name="f14" fmla="abs f5"/>
                <a:gd name="f15" fmla="*/ f8 f0 1"/>
                <a:gd name="f16" fmla="*/ f9 f0 1"/>
                <a:gd name="f17" fmla="*/ f10 f0 1"/>
                <a:gd name="f18" fmla="*/ f11 f0 1"/>
                <a:gd name="f19" fmla="?: f12 f3 1"/>
                <a:gd name="f20" fmla="?: f13 f4 1"/>
                <a:gd name="f21" fmla="?: f14 f5 1"/>
                <a:gd name="f22" fmla="*/ f15 1 f2"/>
                <a:gd name="f23" fmla="*/ f16 1 f2"/>
                <a:gd name="f24" fmla="*/ f17 1 f2"/>
                <a:gd name="f25" fmla="*/ f18 1 f2"/>
                <a:gd name="f26" fmla="*/ f19 1 21600"/>
                <a:gd name="f27" fmla="*/ f20 1 21600"/>
                <a:gd name="f28" fmla="*/ 21600 f19 1"/>
                <a:gd name="f29" fmla="*/ 21600 f20 1"/>
                <a:gd name="f30" fmla="+- f22 0 f1"/>
                <a:gd name="f31" fmla="+- f23 0 f1"/>
                <a:gd name="f32" fmla="+- f24 0 f1"/>
                <a:gd name="f33" fmla="+- f25 0 f1"/>
                <a:gd name="f34" fmla="min f27 f26"/>
                <a:gd name="f35" fmla="*/ f28 1 f21"/>
                <a:gd name="f36" fmla="*/ f29 1 f21"/>
                <a:gd name="f37" fmla="val f35"/>
                <a:gd name="f38" fmla="val f36"/>
                <a:gd name="f39" fmla="*/ f6 f34 1"/>
                <a:gd name="f40" fmla="+- f38 0 f6"/>
                <a:gd name="f41" fmla="+- f37 0 f6"/>
                <a:gd name="f42" fmla="*/ f38 f34 1"/>
                <a:gd name="f43" fmla="*/ f37 f34 1"/>
                <a:gd name="f44" fmla="*/ f40 1 2"/>
                <a:gd name="f45" fmla="*/ f41 1 2"/>
                <a:gd name="f46" fmla="*/ f41 f7 1"/>
                <a:gd name="f47" fmla="+- f6 f44 0"/>
                <a:gd name="f48" fmla="*/ f46 1 200000"/>
                <a:gd name="f49" fmla="*/ f46 1 100000"/>
                <a:gd name="f50" fmla="+- f48 f45 0"/>
                <a:gd name="f51" fmla="*/ f48 f34 1"/>
                <a:gd name="f52" fmla="*/ f47 f34 1"/>
                <a:gd name="f53" fmla="*/ f49 f34 1"/>
                <a:gd name="f54" fmla="*/ f50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3" y="f39"/>
                </a:cxn>
                <a:cxn ang="f31">
                  <a:pos x="f51" y="f52"/>
                </a:cxn>
                <a:cxn ang="f32">
                  <a:pos x="f39" y="f42"/>
                </a:cxn>
                <a:cxn ang="f32">
                  <a:pos x="f53" y="f42"/>
                </a:cxn>
                <a:cxn ang="f32">
                  <a:pos x="f43" y="f42"/>
                </a:cxn>
                <a:cxn ang="f33">
                  <a:pos x="f54" y="f52"/>
                </a:cxn>
              </a:cxnLst>
              <a:rect l="f51" t="f52" r="f54" b="f42"/>
              <a:pathLst>
                <a:path>
                  <a:moveTo>
                    <a:pt x="f39" y="f42"/>
                  </a:moveTo>
                  <a:lnTo>
                    <a:pt x="f53" y="f39"/>
                  </a:lnTo>
                  <a:lnTo>
                    <a:pt x="f43" y="f42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Rectangle 27">
              <a:extLst>
                <a:ext uri="{FF2B5EF4-FFF2-40B4-BE49-F238E27FC236}">
                  <a16:creationId xmlns:a16="http://schemas.microsoft.com/office/drawing/2014/main" id="{9166FB74-5BCB-9C9F-83D7-92999FC5F9B1}"/>
                </a:ext>
              </a:extLst>
            </p:cNvPr>
            <p:cNvSpPr/>
            <p:nvPr/>
          </p:nvSpPr>
          <p:spPr>
            <a:xfrm>
              <a:off x="9334496" y="-8467"/>
              <a:ext cx="2854327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858013"/>
                <a:gd name="f4" fmla="val 6866467"/>
                <a:gd name="f5" fmla="val 2473942"/>
                <a:gd name="f6" fmla="*/ f0 1 2858013"/>
                <a:gd name="f7" fmla="*/ f1 1 6866467"/>
                <a:gd name="f8" fmla="+- f4 0 f2"/>
                <a:gd name="f9" fmla="+- f3 0 f2"/>
                <a:gd name="f10" fmla="*/ f9 1 2858013"/>
                <a:gd name="f11" fmla="*/ f8 1 6866467"/>
                <a:gd name="f12" fmla="*/ f2 1 f10"/>
                <a:gd name="f13" fmla="*/ f3 1 f10"/>
                <a:gd name="f14" fmla="*/ f2 1 f11"/>
                <a:gd name="f15" fmla="*/ f4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2858013" h="6866467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Rectangle 28">
              <a:extLst>
                <a:ext uri="{FF2B5EF4-FFF2-40B4-BE49-F238E27FC236}">
                  <a16:creationId xmlns:a16="http://schemas.microsoft.com/office/drawing/2014/main" id="{710AA116-F4AC-E7AE-2406-E2EAA95BB612}"/>
                </a:ext>
              </a:extLst>
            </p:cNvPr>
            <p:cNvSpPr/>
            <p:nvPr/>
          </p:nvSpPr>
          <p:spPr>
            <a:xfrm>
              <a:off x="10898733" y="-8467"/>
              <a:ext cx="1290090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90094"/>
                <a:gd name="f4" fmla="val 6858000"/>
                <a:gd name="f5" fmla="val 1019735"/>
                <a:gd name="f6" fmla="*/ f0 1 1290094"/>
                <a:gd name="f7" fmla="*/ f1 1 6858000"/>
                <a:gd name="f8" fmla="+- f4 0 f2"/>
                <a:gd name="f9" fmla="+- f3 0 f2"/>
                <a:gd name="f10" fmla="*/ f9 1 1290094"/>
                <a:gd name="f11" fmla="*/ f8 1 6858000"/>
                <a:gd name="f12" fmla="*/ f2 1 f10"/>
                <a:gd name="f13" fmla="*/ f3 1 f10"/>
                <a:gd name="f14" fmla="*/ f2 1 f11"/>
                <a:gd name="f15" fmla="*/ f4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1290094" h="6858000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E173BE2C-B4B4-82EA-E895-B8FB44E0B00B}"/>
                </a:ext>
              </a:extLst>
            </p:cNvPr>
            <p:cNvSpPr/>
            <p:nvPr/>
          </p:nvSpPr>
          <p:spPr>
            <a:xfrm>
              <a:off x="10938994" y="-8467"/>
              <a:ext cx="1249829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49825"/>
                <a:gd name="f4" fmla="val 6858000"/>
                <a:gd name="f5" fmla="val 1109382"/>
                <a:gd name="f6" fmla="*/ f0 1 1249825"/>
                <a:gd name="f7" fmla="*/ f1 1 6858000"/>
                <a:gd name="f8" fmla="+- f4 0 f2"/>
                <a:gd name="f9" fmla="+- f3 0 f2"/>
                <a:gd name="f10" fmla="*/ f9 1 1249825"/>
                <a:gd name="f11" fmla="*/ f8 1 6858000"/>
                <a:gd name="f12" fmla="*/ f2 1 f10"/>
                <a:gd name="f13" fmla="*/ f3 1 f10"/>
                <a:gd name="f14" fmla="*/ f2 1 f11"/>
                <a:gd name="f15" fmla="*/ f4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1249825" h="6858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1" name="Isosceles Triangle 30">
              <a:extLst>
                <a:ext uri="{FF2B5EF4-FFF2-40B4-BE49-F238E27FC236}">
                  <a16:creationId xmlns:a16="http://schemas.microsoft.com/office/drawing/2014/main" id="{E6ED3D04-C486-353D-8BF7-5E2B9E8B3921}"/>
                </a:ext>
              </a:extLst>
            </p:cNvPr>
            <p:cNvSpPr/>
            <p:nvPr/>
          </p:nvSpPr>
          <p:spPr>
            <a:xfrm>
              <a:off x="10371664" y="3589870"/>
              <a:ext cx="1817159" cy="326812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val 100000"/>
                <a:gd name="f8" fmla="+- 0 0 -360"/>
                <a:gd name="f9" fmla="+- 0 0 -270"/>
                <a:gd name="f10" fmla="+- 0 0 -180"/>
                <a:gd name="f11" fmla="+- 0 0 -90"/>
                <a:gd name="f12" fmla="abs f3"/>
                <a:gd name="f13" fmla="abs f4"/>
                <a:gd name="f14" fmla="abs f5"/>
                <a:gd name="f15" fmla="*/ f8 f0 1"/>
                <a:gd name="f16" fmla="*/ f9 f0 1"/>
                <a:gd name="f17" fmla="*/ f10 f0 1"/>
                <a:gd name="f18" fmla="*/ f11 f0 1"/>
                <a:gd name="f19" fmla="?: f12 f3 1"/>
                <a:gd name="f20" fmla="?: f13 f4 1"/>
                <a:gd name="f21" fmla="?: f14 f5 1"/>
                <a:gd name="f22" fmla="*/ f15 1 f2"/>
                <a:gd name="f23" fmla="*/ f16 1 f2"/>
                <a:gd name="f24" fmla="*/ f17 1 f2"/>
                <a:gd name="f25" fmla="*/ f18 1 f2"/>
                <a:gd name="f26" fmla="*/ f19 1 21600"/>
                <a:gd name="f27" fmla="*/ f20 1 21600"/>
                <a:gd name="f28" fmla="*/ 21600 f19 1"/>
                <a:gd name="f29" fmla="*/ 21600 f20 1"/>
                <a:gd name="f30" fmla="+- f22 0 f1"/>
                <a:gd name="f31" fmla="+- f23 0 f1"/>
                <a:gd name="f32" fmla="+- f24 0 f1"/>
                <a:gd name="f33" fmla="+- f25 0 f1"/>
                <a:gd name="f34" fmla="min f27 f26"/>
                <a:gd name="f35" fmla="*/ f28 1 f21"/>
                <a:gd name="f36" fmla="*/ f29 1 f21"/>
                <a:gd name="f37" fmla="val f35"/>
                <a:gd name="f38" fmla="val f36"/>
                <a:gd name="f39" fmla="*/ f6 f34 1"/>
                <a:gd name="f40" fmla="+- f38 0 f6"/>
                <a:gd name="f41" fmla="+- f37 0 f6"/>
                <a:gd name="f42" fmla="*/ f38 f34 1"/>
                <a:gd name="f43" fmla="*/ f37 f34 1"/>
                <a:gd name="f44" fmla="*/ f40 1 2"/>
                <a:gd name="f45" fmla="*/ f41 1 2"/>
                <a:gd name="f46" fmla="*/ f41 f7 1"/>
                <a:gd name="f47" fmla="+- f6 f44 0"/>
                <a:gd name="f48" fmla="*/ f46 1 200000"/>
                <a:gd name="f49" fmla="*/ f46 1 100000"/>
                <a:gd name="f50" fmla="+- f48 f45 0"/>
                <a:gd name="f51" fmla="*/ f48 f34 1"/>
                <a:gd name="f52" fmla="*/ f47 f34 1"/>
                <a:gd name="f53" fmla="*/ f49 f34 1"/>
                <a:gd name="f54" fmla="*/ f50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3" y="f39"/>
                </a:cxn>
                <a:cxn ang="f31">
                  <a:pos x="f51" y="f52"/>
                </a:cxn>
                <a:cxn ang="f32">
                  <a:pos x="f39" y="f42"/>
                </a:cxn>
                <a:cxn ang="f32">
                  <a:pos x="f53" y="f42"/>
                </a:cxn>
                <a:cxn ang="f32">
                  <a:pos x="f43" y="f42"/>
                </a:cxn>
                <a:cxn ang="f33">
                  <a:pos x="f54" y="f52"/>
                </a:cxn>
              </a:cxnLst>
              <a:rect l="f51" t="f52" r="f54" b="f42"/>
              <a:pathLst>
                <a:path>
                  <a:moveTo>
                    <a:pt x="f39" y="f42"/>
                  </a:moveTo>
                  <a:lnTo>
                    <a:pt x="f53" y="f39"/>
                  </a:lnTo>
                  <a:lnTo>
                    <a:pt x="f43" y="f42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Isosceles Triangle 18">
              <a:extLst>
                <a:ext uri="{FF2B5EF4-FFF2-40B4-BE49-F238E27FC236}">
                  <a16:creationId xmlns:a16="http://schemas.microsoft.com/office/drawing/2014/main" id="{ECF9BC2E-0700-C727-68E6-D6BE5DAC577B}"/>
                </a:ext>
              </a:extLst>
            </p:cNvPr>
            <p:cNvSpPr/>
            <p:nvPr/>
          </p:nvSpPr>
          <p:spPr>
            <a:xfrm rot="10799991">
              <a:off x="-37" y="0"/>
              <a:ext cx="842592" cy="566615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val 100000"/>
                <a:gd name="f8" fmla="+- 0 0 -360"/>
                <a:gd name="f9" fmla="+- 0 0 -270"/>
                <a:gd name="f10" fmla="+- 0 0 -180"/>
                <a:gd name="f11" fmla="+- 0 0 -90"/>
                <a:gd name="f12" fmla="abs f3"/>
                <a:gd name="f13" fmla="abs f4"/>
                <a:gd name="f14" fmla="abs f5"/>
                <a:gd name="f15" fmla="*/ f8 f0 1"/>
                <a:gd name="f16" fmla="*/ f9 f0 1"/>
                <a:gd name="f17" fmla="*/ f10 f0 1"/>
                <a:gd name="f18" fmla="*/ f11 f0 1"/>
                <a:gd name="f19" fmla="?: f12 f3 1"/>
                <a:gd name="f20" fmla="?: f13 f4 1"/>
                <a:gd name="f21" fmla="?: f14 f5 1"/>
                <a:gd name="f22" fmla="*/ f15 1 f2"/>
                <a:gd name="f23" fmla="*/ f16 1 f2"/>
                <a:gd name="f24" fmla="*/ f17 1 f2"/>
                <a:gd name="f25" fmla="*/ f18 1 f2"/>
                <a:gd name="f26" fmla="*/ f19 1 21600"/>
                <a:gd name="f27" fmla="*/ f20 1 21600"/>
                <a:gd name="f28" fmla="*/ 21600 f19 1"/>
                <a:gd name="f29" fmla="*/ 21600 f20 1"/>
                <a:gd name="f30" fmla="+- f22 0 f1"/>
                <a:gd name="f31" fmla="+- f23 0 f1"/>
                <a:gd name="f32" fmla="+- f24 0 f1"/>
                <a:gd name="f33" fmla="+- f25 0 f1"/>
                <a:gd name="f34" fmla="min f27 f26"/>
                <a:gd name="f35" fmla="*/ f28 1 f21"/>
                <a:gd name="f36" fmla="*/ f29 1 f21"/>
                <a:gd name="f37" fmla="val f35"/>
                <a:gd name="f38" fmla="val f36"/>
                <a:gd name="f39" fmla="*/ f6 f34 1"/>
                <a:gd name="f40" fmla="+- f38 0 f6"/>
                <a:gd name="f41" fmla="+- f37 0 f6"/>
                <a:gd name="f42" fmla="*/ f38 f34 1"/>
                <a:gd name="f43" fmla="*/ f37 f34 1"/>
                <a:gd name="f44" fmla="*/ f40 1 2"/>
                <a:gd name="f45" fmla="*/ f41 1 2"/>
                <a:gd name="f46" fmla="*/ f41 f7 1"/>
                <a:gd name="f47" fmla="+- f6 f44 0"/>
                <a:gd name="f48" fmla="*/ f46 1 200000"/>
                <a:gd name="f49" fmla="*/ f46 1 100000"/>
                <a:gd name="f50" fmla="+- f48 f45 0"/>
                <a:gd name="f51" fmla="*/ f48 f34 1"/>
                <a:gd name="f52" fmla="*/ f47 f34 1"/>
                <a:gd name="f53" fmla="*/ f49 f34 1"/>
                <a:gd name="f54" fmla="*/ f50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3" y="f39"/>
                </a:cxn>
                <a:cxn ang="f31">
                  <a:pos x="f51" y="f52"/>
                </a:cxn>
                <a:cxn ang="f32">
                  <a:pos x="f39" y="f42"/>
                </a:cxn>
                <a:cxn ang="f32">
                  <a:pos x="f53" y="f42"/>
                </a:cxn>
                <a:cxn ang="f32">
                  <a:pos x="f43" y="f42"/>
                </a:cxn>
                <a:cxn ang="f33">
                  <a:pos x="f54" y="f52"/>
                </a:cxn>
              </a:cxnLst>
              <a:rect l="f51" t="f52" r="f54" b="f42"/>
              <a:pathLst>
                <a:path>
                  <a:moveTo>
                    <a:pt x="f39" y="f42"/>
                  </a:moveTo>
                  <a:lnTo>
                    <a:pt x="f53" y="f39"/>
                  </a:lnTo>
                  <a:lnTo>
                    <a:pt x="f43" y="f42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1CA450C2-281D-C052-3050-04E1FC9FCDE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07068" y="2404533"/>
            <a:ext cx="7766931" cy="1646304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4B44FC34-A38A-FD55-0EFB-B70255C7E1E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07068" y="4050828"/>
            <a:ext cx="7766931" cy="1096895"/>
          </a:xfrm>
        </p:spPr>
        <p:txBody>
          <a:bodyPr/>
          <a:lstStyle>
            <a:lvl1pPr marL="0" indent="0" algn="r">
              <a:buNone/>
              <a:defRPr>
                <a:solidFill>
                  <a:srgbClr val="7F7F7F"/>
                </a:solidFill>
              </a:defRPr>
            </a:lvl1pPr>
          </a:lstStyle>
          <a:p>
            <a:pPr lvl="0"/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6C74CCEB-4BE4-3898-E14D-FA494583288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EDC7D4A-97BD-483C-95DE-7ECE0B0701E2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60C165B-19CE-953E-2EB3-6BF6D42BB89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8713E50-A9D3-D5B8-9B80-9BF6594D351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91A4045-BF86-4A45-B1D9-CE1C51FD1304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0878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6BEFE-1FDE-EDB3-59B5-94C6A4FE5A7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92A76-E4F8-A777-3E2E-CF1D198CF37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1569A-7124-CEEF-BE8D-15BEE2DCDBC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364CAF-1EF7-4DE4-90FE-0AFFD5465781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A2E0C-E80C-B47F-797C-E727006D8B0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A8FE8-572D-D7D4-CBBA-3E2AED446DC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25846A-530A-4020-80B7-CA714E1846AB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125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5C376-8976-C409-4460-8159C52206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332" y="2700863"/>
            <a:ext cx="8596667" cy="1826578"/>
          </a:xfrm>
        </p:spPr>
        <p:txBody>
          <a:bodyPr anchor="b"/>
          <a:lstStyle>
            <a:lvl1pPr>
              <a:defRPr sz="40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E78F9-1061-0561-DFBE-6EC78CA3FF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7332" y="4527450"/>
            <a:ext cx="8596667" cy="860395"/>
          </a:xfrm>
        </p:spPr>
        <p:txBody>
          <a:bodyPr/>
          <a:lstStyle>
            <a:lvl1pPr marL="0" indent="0">
              <a:buNone/>
              <a:defRPr sz="2000">
                <a:solidFill>
                  <a:srgbClr val="7F7F7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645E1-DFFF-A3AA-78D3-2A959EDFD7D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7CAB7C7-AA70-41B9-AD0B-1A11BA814DA7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3C489-D596-D72F-9DD2-D9F601C3684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D2702-9766-4BC0-247D-883FF6F750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313C89-6677-433A-B0EA-DE63A8887853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170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F4E7-5165-0C49-1B4B-6B61EC59721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E84A6-9346-D60B-2BCA-8667D437CA6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7332" y="2160590"/>
            <a:ext cx="4184038" cy="388076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D6878-1C4B-072C-361A-49091CAF0C4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089971" y="2160590"/>
            <a:ext cx="4184038" cy="388076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4ACAA-7950-EC64-F978-A9D5F9CFD6B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7B83D9-1D9F-4F11-942D-353A64E0664C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1C469-1BF9-12C2-588C-140A4F328C8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E4879-C4E5-9D59-D873-0E0E512D682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4E73B2-B22F-47B9-A77E-EFD24066C049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444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6394-32E4-1662-A3CF-A8913AF3549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A021F-F3EF-0C50-C9E8-53F77D381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5741" y="2160983"/>
            <a:ext cx="4185620" cy="576264"/>
          </a:xfrm>
        </p:spPr>
        <p:txBody>
          <a:bodyPr anchor="b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E1DFD-83ED-84B5-833A-C130F1E5EB6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5741" y="2737247"/>
            <a:ext cx="4185620" cy="33041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BF890-CB4C-3195-7C0E-90392C1B3D0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088379" y="2160983"/>
            <a:ext cx="4185620" cy="576264"/>
          </a:xfrm>
        </p:spPr>
        <p:txBody>
          <a:bodyPr anchor="b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014D5-F56C-AEDC-9680-1C8B7D8CC384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088379" y="2737247"/>
            <a:ext cx="4185620" cy="33041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2234F3-CBA0-5025-C73E-85645282587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ED0939-BCE1-4701-AF4F-FF7548AD1D29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6D0003-53AD-5C34-89F3-0BB5667F14C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C7A22-CBC6-C8A2-48FB-8F67EEC8ACA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2947AF-440C-4A9F-AD65-99064CBEF162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25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5DEE9-8B9B-5C7F-08E7-D82380475CF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C6BDA0-83A7-726C-3A06-AE1EBCE401A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C80734-4094-4345-9D59-BC56BCD6AC5E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10F9C-7A0F-0157-0E3B-B2E2684A761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33219-4D23-691F-952A-D1567F35BC3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C77C70D-E62D-4D1D-92F7-577F93996B11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03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0D3B24-F2F5-4B6A-BAFD-0E1E6C0F7F7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8282222-8F56-455E-BD3D-3B5C0ACA4F17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883CFB-E28C-CCAF-1A08-61CC97E792D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549AA-A404-B50A-A80C-320829A1A98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A5F796D-B2D7-4A8B-A3AB-1C7E319122E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6711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1BDD-1EDB-D09D-FFFD-1D9E7FCD3D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332" y="1498601"/>
            <a:ext cx="3854525" cy="1278468"/>
          </a:xfrm>
        </p:spPr>
        <p:txBody>
          <a:bodyPr anchor="b"/>
          <a:lstStyle>
            <a:lvl1pPr>
              <a:defRPr sz="20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CAD21-86CB-F101-9147-640D0377D9B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0457" y="514926"/>
            <a:ext cx="4513542" cy="552643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15F27-5114-4875-A3F0-5DC5135A8FE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77332" y="2777069"/>
            <a:ext cx="3854525" cy="2584451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6955C-E035-210B-2116-E88E3A922FE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6CFAEE7-03EC-42C5-AC03-A7248956D788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5EAE4-8B16-7F1A-675C-05D15B69F05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AFEC2-DCE9-CDBC-A4DD-EA71A0BE61D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64D2E4B-32E9-4500-A74D-B46206678E7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91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2BAA-1852-B0EE-9BA1-539B3BA04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332" y="4800600"/>
            <a:ext cx="8596667" cy="566735"/>
          </a:xfrm>
        </p:spPr>
        <p:txBody>
          <a:bodyPr anchor="b"/>
          <a:lstStyle>
            <a:lvl1pPr>
              <a:defRPr sz="24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551295-631B-3707-6BB6-7E8CB7D3CFE7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677332" y="609603"/>
            <a:ext cx="8596667" cy="3845719"/>
          </a:xfrm>
        </p:spPr>
        <p:txBody>
          <a:bodyPr anchorCtr="1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029BF-8E30-829B-C260-95FD20C3BB8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77332" y="5367335"/>
            <a:ext cx="8596667" cy="674022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39D22-8BDF-7087-7DF4-D8507C255AE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F7B37B-1EFD-4347-B191-A8B455498AF1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967EE-7277-9D18-1F0A-A24CF07219B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F93C1-50B4-5893-ABC6-AD474E476F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17D6E66-6F66-41A0-A3EB-97657D18B04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2509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1D43-6482-82E7-CF0F-7056563125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332" y="609603"/>
            <a:ext cx="8596667" cy="3403597"/>
          </a:xfrm>
        </p:spPr>
        <p:txBody>
          <a:bodyPr anchor="ctr"/>
          <a:lstStyle>
            <a:lvl1pPr>
              <a:defRPr sz="44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8681F-5704-4A94-B7BE-8334AD1FE42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7332" y="4470401"/>
            <a:ext cx="8596667" cy="1570957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E5835-61C5-304E-80C0-6DD08641B93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DE40C5-E3DD-41E3-85FF-F72810476824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9BBCA-D2E5-8709-3B68-DF2C09D20CF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2E3FC-2659-A4D1-9A0B-8BDB437058B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1BD416-FBCB-47AD-84C8-1EC5B42516F0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1248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9F49-6EDE-3955-CEF0-F88A9A1DF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1334" y="609603"/>
            <a:ext cx="8094131" cy="3022604"/>
          </a:xfrm>
        </p:spPr>
        <p:txBody>
          <a:bodyPr anchor="ctr"/>
          <a:lstStyle>
            <a:lvl1pPr>
              <a:defRPr sz="44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01A28ED-CBDA-3807-A0BE-1682A1AD2E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366141" y="3632197"/>
            <a:ext cx="7224528" cy="381003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rgbClr val="7F7F7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EBD7EEC-495F-7237-8C69-4132A9AB008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7332" y="4470401"/>
            <a:ext cx="8596667" cy="1570957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4A5E129-5E4A-A8C3-BEF8-C28FA936C37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8CCBB8-5BF0-4A8B-9C9F-C4CCE14F7392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046F701-F994-AE35-DF10-BC30799136E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756CCF8-67B9-E258-3432-8A391931A7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C97AEB0-0DF1-465B-A33D-54DF9753B6EE}" type="slidenum">
              <a:t>‹N°›</a:t>
            </a:fld>
            <a:endParaRPr lang="fr-FR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993D9AA7-CDF2-C013-A2BE-7DA501B8A291}"/>
              </a:ext>
            </a:extLst>
          </p:cNvPr>
          <p:cNvSpPr txBox="1"/>
          <p:nvPr/>
        </p:nvSpPr>
        <p:spPr>
          <a:xfrm>
            <a:off x="541873" y="790379"/>
            <a:ext cx="609603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C0E474"/>
                </a:solidFill>
                <a:uFillTx/>
                <a:latin typeface="Arial"/>
              </a:rPr>
              <a:t>“</a:t>
            </a:r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EADDA48C-35A0-B002-33C6-2F2482DA859A}"/>
              </a:ext>
            </a:extLst>
          </p:cNvPr>
          <p:cNvSpPr txBox="1"/>
          <p:nvPr/>
        </p:nvSpPr>
        <p:spPr>
          <a:xfrm>
            <a:off x="8893015" y="2886559"/>
            <a:ext cx="609603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C0E474"/>
                </a:solidFill>
                <a:uFillTx/>
                <a:latin typeface="Arial"/>
              </a:rPr>
              <a:t>”</a:t>
            </a:r>
            <a:endParaRPr lang="en-US" sz="1800" b="0" i="0" u="none" strike="noStrike" kern="1200" cap="none" spc="0" baseline="0">
              <a:solidFill>
                <a:srgbClr val="C0E474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282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B253-AB06-A150-3F15-9657DCAA81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332" y="1931990"/>
            <a:ext cx="8596667" cy="2595460"/>
          </a:xfrm>
        </p:spPr>
        <p:txBody>
          <a:bodyPr anchor="b"/>
          <a:lstStyle>
            <a:lvl1pPr>
              <a:defRPr sz="44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13153-CE8C-4806-A35E-CC99786801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7332" y="4527450"/>
            <a:ext cx="8596667" cy="151391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0ABEC-E8F6-6B37-5DDF-E59AB1700C7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CCC8EA9-AD16-43C9-9814-168EEEFAE755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80ACE-A0ED-CFA3-ECFB-3B9657D6A72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485-6102-B901-878E-14F2807E170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E969F38-D29A-45AE-B6CF-486337C3881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0615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8833-A33E-FBB7-79B7-62E715BFE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1334" y="609603"/>
            <a:ext cx="8094131" cy="3022604"/>
          </a:xfrm>
        </p:spPr>
        <p:txBody>
          <a:bodyPr anchor="ctr"/>
          <a:lstStyle>
            <a:lvl1pPr>
              <a:defRPr sz="44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23ECAB3-ECFB-1D20-BE73-C85F900614B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7332" y="4013201"/>
            <a:ext cx="8596667" cy="514249"/>
          </a:xfrm>
        </p:spPr>
        <p:txBody>
          <a:bodyPr anchor="b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92B1A54-B797-F76A-02D4-7FB2E924364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7332" y="4527450"/>
            <a:ext cx="8596667" cy="1513917"/>
          </a:xfrm>
        </p:spPr>
        <p:txBody>
          <a:bodyPr/>
          <a:lstStyle>
            <a:lvl1pPr marL="0" indent="0">
              <a:buNone/>
              <a:defRPr>
                <a:solidFill>
                  <a:srgbClr val="7F7F7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003C8E1-897A-91D5-4392-8201237AF1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43B646A-D196-46CD-8018-9F1054EDD76E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9A0DCAD-EDBE-488C-928F-94B499C0D3D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046DCC9-C67A-71DB-30DF-47521F3A0BC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521ABA-EACC-4E31-81E0-308E5DFA2154}" type="slidenum">
              <a:t>‹N°›</a:t>
            </a:fld>
            <a:endParaRPr lang="fr-FR"/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FF98E116-FD7C-A585-AD91-0E8EB7AE6F66}"/>
              </a:ext>
            </a:extLst>
          </p:cNvPr>
          <p:cNvSpPr txBox="1"/>
          <p:nvPr/>
        </p:nvSpPr>
        <p:spPr>
          <a:xfrm>
            <a:off x="541873" y="790379"/>
            <a:ext cx="609603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C0E474"/>
                </a:solidFill>
                <a:uFillTx/>
                <a:latin typeface="Arial"/>
              </a:rPr>
              <a:t>“</a:t>
            </a:r>
          </a:p>
        </p:txBody>
      </p:sp>
      <p:sp>
        <p:nvSpPr>
          <p:cNvPr id="9" name="TextBox 24">
            <a:extLst>
              <a:ext uri="{FF2B5EF4-FFF2-40B4-BE49-F238E27FC236}">
                <a16:creationId xmlns:a16="http://schemas.microsoft.com/office/drawing/2014/main" id="{E56860BE-370E-5DD1-728C-EABB16295D4E}"/>
              </a:ext>
            </a:extLst>
          </p:cNvPr>
          <p:cNvSpPr txBox="1"/>
          <p:nvPr/>
        </p:nvSpPr>
        <p:spPr>
          <a:xfrm>
            <a:off x="8893015" y="2886559"/>
            <a:ext cx="609603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C0E474"/>
                </a:solidFill>
                <a:uFillTx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909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F0B1-0A99-1040-0E28-9DBE899F7B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609603"/>
            <a:ext cx="8588200" cy="3022604"/>
          </a:xfrm>
        </p:spPr>
        <p:txBody>
          <a:bodyPr anchor="ctr"/>
          <a:lstStyle>
            <a:lvl1pPr>
              <a:defRPr sz="44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33F25E3-99F4-DD39-B730-31D006CCDBF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7332" y="4013201"/>
            <a:ext cx="8596667" cy="514249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rgbClr val="90C226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7861CBE-2AA0-32C7-0907-AC35EF4BE15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7332" y="4527450"/>
            <a:ext cx="8596667" cy="1513917"/>
          </a:xfrm>
        </p:spPr>
        <p:txBody>
          <a:bodyPr/>
          <a:lstStyle>
            <a:lvl1pPr marL="0" indent="0">
              <a:buNone/>
              <a:defRPr>
                <a:solidFill>
                  <a:srgbClr val="7F7F7F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2BC7BDD-E0E8-E703-A6BE-9159DF0722E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808684-68AC-4A1A-8B1D-9D5CE4E5D008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66AC848-E07B-C542-3F32-6EBCDE42C2F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D79B40-B8D5-4DCB-F65A-2CAD2E7AA3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84F4DF6-956B-4559-BE7F-8473999AC20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365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5DCE9-EAE6-3789-E492-53AD57D2AA9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E9F0D-2EEC-5273-E22E-6587F26E6EA0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F647B-82C2-A7B6-061F-FD6B84147C1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5EAE5-F581-4CB8-97B9-BF9EAAAED73E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E15EE-593C-930C-04FF-102026DE61E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774B2-F8BF-FDE5-B7C0-73E4DAACBA6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C76C150-99EB-45D6-8AA3-0C9FC2161048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2994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CC42CF-FC21-F8B5-B1CD-7BC9699AD873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967670" y="609603"/>
            <a:ext cx="1304739" cy="5251454"/>
          </a:xfrm>
        </p:spPr>
        <p:txBody>
          <a:bodyPr vert="eaVert" anchor="ctr"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6FC7A-5E38-62A4-96BB-CA83A00AA5F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77332" y="609603"/>
            <a:ext cx="7060146" cy="525145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DD616-72BA-A081-A008-F0E53B20AEC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AF66C5-B57C-4228-85DD-6C6A4437ACF4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0E0CA-B0CC-FADB-CFE7-102C26824AE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1D516-9230-EA7A-BEE6-3DBA260F81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19263CE-8664-4FC2-92B4-275336E0C00A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564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9797BEC6-3776-7B83-9E6E-57FF638CF538}"/>
              </a:ext>
            </a:extLst>
          </p:cNvPr>
          <p:cNvGrpSpPr/>
          <p:nvPr/>
        </p:nvGrpSpPr>
        <p:grpSpPr>
          <a:xfrm>
            <a:off x="0" y="-8467"/>
            <a:ext cx="12192005" cy="6866467"/>
            <a:chOff x="0" y="-8467"/>
            <a:chExt cx="12192005" cy="6866467"/>
          </a:xfrm>
        </p:grpSpPr>
        <p:cxnSp>
          <p:nvCxnSpPr>
            <p:cNvPr id="3" name="Straight Connector 19">
              <a:extLst>
                <a:ext uri="{FF2B5EF4-FFF2-40B4-BE49-F238E27FC236}">
                  <a16:creationId xmlns:a16="http://schemas.microsoft.com/office/drawing/2014/main" id="{54B855D4-46DB-51CC-6AA8-1F5D5E1543A8}"/>
                </a:ext>
              </a:extLst>
            </p:cNvPr>
            <p:cNvCxnSpPr/>
            <p:nvPr/>
          </p:nvCxnSpPr>
          <p:spPr>
            <a:xfrm>
              <a:off x="9371008" y="0"/>
              <a:ext cx="1219207" cy="6858000"/>
            </a:xfrm>
            <a:prstGeom prst="straightConnector1">
              <a:avLst/>
            </a:prstGeom>
            <a:noFill/>
            <a:ln w="9528" cap="rnd">
              <a:solidFill>
                <a:srgbClr val="BFBFBF"/>
              </a:solidFill>
              <a:prstDash val="solid"/>
              <a:miter/>
            </a:ln>
          </p:spPr>
        </p:cxnSp>
        <p:cxnSp>
          <p:nvCxnSpPr>
            <p:cNvPr id="4" name="Straight Connector 20">
              <a:extLst>
                <a:ext uri="{FF2B5EF4-FFF2-40B4-BE49-F238E27FC236}">
                  <a16:creationId xmlns:a16="http://schemas.microsoft.com/office/drawing/2014/main" id="{2BA5D146-DF3E-67F0-E0AC-4EC580D8CCA3}"/>
                </a:ext>
              </a:extLst>
            </p:cNvPr>
            <p:cNvCxnSpPr/>
            <p:nvPr/>
          </p:nvCxnSpPr>
          <p:spPr>
            <a:xfrm flipH="1">
              <a:off x="7425266" y="3681410"/>
              <a:ext cx="4763557" cy="3176590"/>
            </a:xfrm>
            <a:prstGeom prst="straightConnector1">
              <a:avLst/>
            </a:prstGeom>
            <a:noFill/>
            <a:ln w="9528" cap="rnd">
              <a:solidFill>
                <a:srgbClr val="D9D9D9"/>
              </a:solidFill>
              <a:prstDash val="solid"/>
              <a:miter/>
            </a:ln>
          </p:spPr>
        </p:cxnSp>
        <p:sp>
          <p:nvSpPr>
            <p:cNvPr id="5" name="Rectangle 23">
              <a:extLst>
                <a:ext uri="{FF2B5EF4-FFF2-40B4-BE49-F238E27FC236}">
                  <a16:creationId xmlns:a16="http://schemas.microsoft.com/office/drawing/2014/main" id="{D678A82A-FBE4-2BD9-3387-C287837A1A09}"/>
                </a:ext>
              </a:extLst>
            </p:cNvPr>
            <p:cNvSpPr/>
            <p:nvPr/>
          </p:nvSpPr>
          <p:spPr>
            <a:xfrm>
              <a:off x="9181472" y="-8467"/>
              <a:ext cx="3007351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007349"/>
                <a:gd name="f4" fmla="val 6866467"/>
                <a:gd name="f5" fmla="val 2045532"/>
                <a:gd name="f6" fmla="*/ f0 1 3007349"/>
                <a:gd name="f7" fmla="*/ f1 1 6866467"/>
                <a:gd name="f8" fmla="+- f4 0 f2"/>
                <a:gd name="f9" fmla="+- f3 0 f2"/>
                <a:gd name="f10" fmla="*/ f9 1 3007349"/>
                <a:gd name="f11" fmla="*/ f8 1 6866467"/>
                <a:gd name="f12" fmla="*/ f2 1 f10"/>
                <a:gd name="f13" fmla="*/ f3 1 f10"/>
                <a:gd name="f14" fmla="*/ f2 1 f11"/>
                <a:gd name="f15" fmla="*/ f4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3007349" h="6866467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Rectangle 25">
              <a:extLst>
                <a:ext uri="{FF2B5EF4-FFF2-40B4-BE49-F238E27FC236}">
                  <a16:creationId xmlns:a16="http://schemas.microsoft.com/office/drawing/2014/main" id="{C47ED915-9CFB-54FA-EA6E-8ED5130E1EF1}"/>
                </a:ext>
              </a:extLst>
            </p:cNvPr>
            <p:cNvSpPr/>
            <p:nvPr/>
          </p:nvSpPr>
          <p:spPr>
            <a:xfrm>
              <a:off x="9603440" y="-8467"/>
              <a:ext cx="2588556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573311"/>
                <a:gd name="f4" fmla="val 6866467"/>
                <a:gd name="f5" fmla="val 1202336"/>
                <a:gd name="f6" fmla="*/ f0 1 2573311"/>
                <a:gd name="f7" fmla="*/ f1 1 6866467"/>
                <a:gd name="f8" fmla="+- f4 0 f2"/>
                <a:gd name="f9" fmla="+- f3 0 f2"/>
                <a:gd name="f10" fmla="*/ f9 1 2573311"/>
                <a:gd name="f11" fmla="*/ f8 1 6866467"/>
                <a:gd name="f12" fmla="*/ f2 1 f10"/>
                <a:gd name="f13" fmla="*/ f3 1 f10"/>
                <a:gd name="f14" fmla="*/ f2 1 f11"/>
                <a:gd name="f15" fmla="*/ f4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2573311" h="6866467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Isosceles Triangle 23">
              <a:extLst>
                <a:ext uri="{FF2B5EF4-FFF2-40B4-BE49-F238E27FC236}">
                  <a16:creationId xmlns:a16="http://schemas.microsoft.com/office/drawing/2014/main" id="{33031854-94F9-D568-6E16-6FBA64E38C57}"/>
                </a:ext>
              </a:extLst>
            </p:cNvPr>
            <p:cNvSpPr/>
            <p:nvPr/>
          </p:nvSpPr>
          <p:spPr>
            <a:xfrm>
              <a:off x="8932334" y="3047996"/>
              <a:ext cx="3259671" cy="381000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val 100000"/>
                <a:gd name="f8" fmla="+- 0 0 -360"/>
                <a:gd name="f9" fmla="+- 0 0 -270"/>
                <a:gd name="f10" fmla="+- 0 0 -180"/>
                <a:gd name="f11" fmla="+- 0 0 -90"/>
                <a:gd name="f12" fmla="abs f3"/>
                <a:gd name="f13" fmla="abs f4"/>
                <a:gd name="f14" fmla="abs f5"/>
                <a:gd name="f15" fmla="*/ f8 f0 1"/>
                <a:gd name="f16" fmla="*/ f9 f0 1"/>
                <a:gd name="f17" fmla="*/ f10 f0 1"/>
                <a:gd name="f18" fmla="*/ f11 f0 1"/>
                <a:gd name="f19" fmla="?: f12 f3 1"/>
                <a:gd name="f20" fmla="?: f13 f4 1"/>
                <a:gd name="f21" fmla="?: f14 f5 1"/>
                <a:gd name="f22" fmla="*/ f15 1 f2"/>
                <a:gd name="f23" fmla="*/ f16 1 f2"/>
                <a:gd name="f24" fmla="*/ f17 1 f2"/>
                <a:gd name="f25" fmla="*/ f18 1 f2"/>
                <a:gd name="f26" fmla="*/ f19 1 21600"/>
                <a:gd name="f27" fmla="*/ f20 1 21600"/>
                <a:gd name="f28" fmla="*/ 21600 f19 1"/>
                <a:gd name="f29" fmla="*/ 21600 f20 1"/>
                <a:gd name="f30" fmla="+- f22 0 f1"/>
                <a:gd name="f31" fmla="+- f23 0 f1"/>
                <a:gd name="f32" fmla="+- f24 0 f1"/>
                <a:gd name="f33" fmla="+- f25 0 f1"/>
                <a:gd name="f34" fmla="min f27 f26"/>
                <a:gd name="f35" fmla="*/ f28 1 f21"/>
                <a:gd name="f36" fmla="*/ f29 1 f21"/>
                <a:gd name="f37" fmla="val f35"/>
                <a:gd name="f38" fmla="val f36"/>
                <a:gd name="f39" fmla="*/ f6 f34 1"/>
                <a:gd name="f40" fmla="+- f38 0 f6"/>
                <a:gd name="f41" fmla="+- f37 0 f6"/>
                <a:gd name="f42" fmla="*/ f38 f34 1"/>
                <a:gd name="f43" fmla="*/ f37 f34 1"/>
                <a:gd name="f44" fmla="*/ f40 1 2"/>
                <a:gd name="f45" fmla="*/ f41 1 2"/>
                <a:gd name="f46" fmla="*/ f41 f7 1"/>
                <a:gd name="f47" fmla="+- f6 f44 0"/>
                <a:gd name="f48" fmla="*/ f46 1 200000"/>
                <a:gd name="f49" fmla="*/ f46 1 100000"/>
                <a:gd name="f50" fmla="+- f48 f45 0"/>
                <a:gd name="f51" fmla="*/ f48 f34 1"/>
                <a:gd name="f52" fmla="*/ f47 f34 1"/>
                <a:gd name="f53" fmla="*/ f49 f34 1"/>
                <a:gd name="f54" fmla="*/ f50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3" y="f39"/>
                </a:cxn>
                <a:cxn ang="f31">
                  <a:pos x="f51" y="f52"/>
                </a:cxn>
                <a:cxn ang="f32">
                  <a:pos x="f39" y="f42"/>
                </a:cxn>
                <a:cxn ang="f32">
                  <a:pos x="f53" y="f42"/>
                </a:cxn>
                <a:cxn ang="f32">
                  <a:pos x="f43" y="f42"/>
                </a:cxn>
                <a:cxn ang="f33">
                  <a:pos x="f54" y="f52"/>
                </a:cxn>
              </a:cxnLst>
              <a:rect l="f51" t="f52" r="f54" b="f42"/>
              <a:pathLst>
                <a:path>
                  <a:moveTo>
                    <a:pt x="f39" y="f42"/>
                  </a:moveTo>
                  <a:lnTo>
                    <a:pt x="f53" y="f39"/>
                  </a:lnTo>
                  <a:lnTo>
                    <a:pt x="f43" y="f42"/>
                  </a:lnTo>
                  <a:close/>
                </a:path>
              </a:pathLst>
            </a:custGeom>
            <a:solidFill>
              <a:srgbClr val="54A021">
                <a:alpha val="72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Rectangle 27">
              <a:extLst>
                <a:ext uri="{FF2B5EF4-FFF2-40B4-BE49-F238E27FC236}">
                  <a16:creationId xmlns:a16="http://schemas.microsoft.com/office/drawing/2014/main" id="{23742BAE-5AF7-160F-67FB-F2711512AC4C}"/>
                </a:ext>
              </a:extLst>
            </p:cNvPr>
            <p:cNvSpPr/>
            <p:nvPr/>
          </p:nvSpPr>
          <p:spPr>
            <a:xfrm>
              <a:off x="9334496" y="-8467"/>
              <a:ext cx="2854327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858013"/>
                <a:gd name="f4" fmla="val 6866467"/>
                <a:gd name="f5" fmla="val 2473942"/>
                <a:gd name="f6" fmla="*/ f0 1 2858013"/>
                <a:gd name="f7" fmla="*/ f1 1 6866467"/>
                <a:gd name="f8" fmla="+- f4 0 f2"/>
                <a:gd name="f9" fmla="+- f3 0 f2"/>
                <a:gd name="f10" fmla="*/ f9 1 2858013"/>
                <a:gd name="f11" fmla="*/ f8 1 6866467"/>
                <a:gd name="f12" fmla="*/ f2 1 f10"/>
                <a:gd name="f13" fmla="*/ f3 1 f10"/>
                <a:gd name="f14" fmla="*/ f2 1 f11"/>
                <a:gd name="f15" fmla="*/ f4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2858013" h="6866467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Rectangle 28">
              <a:extLst>
                <a:ext uri="{FF2B5EF4-FFF2-40B4-BE49-F238E27FC236}">
                  <a16:creationId xmlns:a16="http://schemas.microsoft.com/office/drawing/2014/main" id="{E7B13503-6F75-DEDF-D07D-BCF11713F1F8}"/>
                </a:ext>
              </a:extLst>
            </p:cNvPr>
            <p:cNvSpPr/>
            <p:nvPr/>
          </p:nvSpPr>
          <p:spPr>
            <a:xfrm>
              <a:off x="10898733" y="-8467"/>
              <a:ext cx="1290090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90094"/>
                <a:gd name="f4" fmla="val 6858000"/>
                <a:gd name="f5" fmla="val 1019735"/>
                <a:gd name="f6" fmla="*/ f0 1 1290094"/>
                <a:gd name="f7" fmla="*/ f1 1 6858000"/>
                <a:gd name="f8" fmla="+- f4 0 f2"/>
                <a:gd name="f9" fmla="+- f3 0 f2"/>
                <a:gd name="f10" fmla="*/ f9 1 1290094"/>
                <a:gd name="f11" fmla="*/ f8 1 6858000"/>
                <a:gd name="f12" fmla="*/ f2 1 f10"/>
                <a:gd name="f13" fmla="*/ f3 1 f10"/>
                <a:gd name="f14" fmla="*/ f2 1 f11"/>
                <a:gd name="f15" fmla="*/ f4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1290094" h="6858000">
                  <a:moveTo>
                    <a:pt x="f5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5" y="f2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94143720-3987-A19C-1709-B9E44CD47F4D}"/>
                </a:ext>
              </a:extLst>
            </p:cNvPr>
            <p:cNvSpPr/>
            <p:nvPr/>
          </p:nvSpPr>
          <p:spPr>
            <a:xfrm>
              <a:off x="10938994" y="-8467"/>
              <a:ext cx="1249829" cy="686646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249825"/>
                <a:gd name="f4" fmla="val 6858000"/>
                <a:gd name="f5" fmla="val 1109382"/>
                <a:gd name="f6" fmla="*/ f0 1 1249825"/>
                <a:gd name="f7" fmla="*/ f1 1 6858000"/>
                <a:gd name="f8" fmla="+- f4 0 f2"/>
                <a:gd name="f9" fmla="+- f3 0 f2"/>
                <a:gd name="f10" fmla="*/ f9 1 1249825"/>
                <a:gd name="f11" fmla="*/ f8 1 6858000"/>
                <a:gd name="f12" fmla="*/ f2 1 f10"/>
                <a:gd name="f13" fmla="*/ f3 1 f10"/>
                <a:gd name="f14" fmla="*/ f2 1 f11"/>
                <a:gd name="f15" fmla="*/ f4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1249825" h="6858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5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1" name="Isosceles Triangle 27">
              <a:extLst>
                <a:ext uri="{FF2B5EF4-FFF2-40B4-BE49-F238E27FC236}">
                  <a16:creationId xmlns:a16="http://schemas.microsoft.com/office/drawing/2014/main" id="{27842DDC-7CD6-BC17-F650-5C4A7D584E1B}"/>
                </a:ext>
              </a:extLst>
            </p:cNvPr>
            <p:cNvSpPr/>
            <p:nvPr/>
          </p:nvSpPr>
          <p:spPr>
            <a:xfrm>
              <a:off x="10371664" y="3589870"/>
              <a:ext cx="1817159" cy="326812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val 100000"/>
                <a:gd name="f8" fmla="+- 0 0 -360"/>
                <a:gd name="f9" fmla="+- 0 0 -270"/>
                <a:gd name="f10" fmla="+- 0 0 -180"/>
                <a:gd name="f11" fmla="+- 0 0 -90"/>
                <a:gd name="f12" fmla="abs f3"/>
                <a:gd name="f13" fmla="abs f4"/>
                <a:gd name="f14" fmla="abs f5"/>
                <a:gd name="f15" fmla="*/ f8 f0 1"/>
                <a:gd name="f16" fmla="*/ f9 f0 1"/>
                <a:gd name="f17" fmla="*/ f10 f0 1"/>
                <a:gd name="f18" fmla="*/ f11 f0 1"/>
                <a:gd name="f19" fmla="?: f12 f3 1"/>
                <a:gd name="f20" fmla="?: f13 f4 1"/>
                <a:gd name="f21" fmla="?: f14 f5 1"/>
                <a:gd name="f22" fmla="*/ f15 1 f2"/>
                <a:gd name="f23" fmla="*/ f16 1 f2"/>
                <a:gd name="f24" fmla="*/ f17 1 f2"/>
                <a:gd name="f25" fmla="*/ f18 1 f2"/>
                <a:gd name="f26" fmla="*/ f19 1 21600"/>
                <a:gd name="f27" fmla="*/ f20 1 21600"/>
                <a:gd name="f28" fmla="*/ 21600 f19 1"/>
                <a:gd name="f29" fmla="*/ 21600 f20 1"/>
                <a:gd name="f30" fmla="+- f22 0 f1"/>
                <a:gd name="f31" fmla="+- f23 0 f1"/>
                <a:gd name="f32" fmla="+- f24 0 f1"/>
                <a:gd name="f33" fmla="+- f25 0 f1"/>
                <a:gd name="f34" fmla="min f27 f26"/>
                <a:gd name="f35" fmla="*/ f28 1 f21"/>
                <a:gd name="f36" fmla="*/ f29 1 f21"/>
                <a:gd name="f37" fmla="val f35"/>
                <a:gd name="f38" fmla="val f36"/>
                <a:gd name="f39" fmla="*/ f6 f34 1"/>
                <a:gd name="f40" fmla="+- f38 0 f6"/>
                <a:gd name="f41" fmla="+- f37 0 f6"/>
                <a:gd name="f42" fmla="*/ f38 f34 1"/>
                <a:gd name="f43" fmla="*/ f37 f34 1"/>
                <a:gd name="f44" fmla="*/ f40 1 2"/>
                <a:gd name="f45" fmla="*/ f41 1 2"/>
                <a:gd name="f46" fmla="*/ f41 f7 1"/>
                <a:gd name="f47" fmla="+- f6 f44 0"/>
                <a:gd name="f48" fmla="*/ f46 1 200000"/>
                <a:gd name="f49" fmla="*/ f46 1 100000"/>
                <a:gd name="f50" fmla="+- f48 f45 0"/>
                <a:gd name="f51" fmla="*/ f48 f34 1"/>
                <a:gd name="f52" fmla="*/ f47 f34 1"/>
                <a:gd name="f53" fmla="*/ f49 f34 1"/>
                <a:gd name="f54" fmla="*/ f50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3" y="f39"/>
                </a:cxn>
                <a:cxn ang="f31">
                  <a:pos x="f51" y="f52"/>
                </a:cxn>
                <a:cxn ang="f32">
                  <a:pos x="f39" y="f42"/>
                </a:cxn>
                <a:cxn ang="f32">
                  <a:pos x="f53" y="f42"/>
                </a:cxn>
                <a:cxn ang="f32">
                  <a:pos x="f43" y="f42"/>
                </a:cxn>
                <a:cxn ang="f33">
                  <a:pos x="f54" y="f52"/>
                </a:cxn>
              </a:cxnLst>
              <a:rect l="f51" t="f52" r="f54" b="f42"/>
              <a:pathLst>
                <a:path>
                  <a:moveTo>
                    <a:pt x="f39" y="f42"/>
                  </a:moveTo>
                  <a:lnTo>
                    <a:pt x="f53" y="f39"/>
                  </a:lnTo>
                  <a:lnTo>
                    <a:pt x="f43" y="f42"/>
                  </a:lnTo>
                  <a:close/>
                </a:path>
              </a:pathLst>
            </a:custGeom>
            <a:solidFill>
              <a:srgbClr val="90C226">
                <a:alpha val="80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Isosceles Triangle 28">
              <a:extLst>
                <a:ext uri="{FF2B5EF4-FFF2-40B4-BE49-F238E27FC236}">
                  <a16:creationId xmlns:a16="http://schemas.microsoft.com/office/drawing/2014/main" id="{F99B3809-A206-8A94-2AE4-CF636A3B771C}"/>
                </a:ext>
              </a:extLst>
            </p:cNvPr>
            <p:cNvSpPr/>
            <p:nvPr/>
          </p:nvSpPr>
          <p:spPr>
            <a:xfrm>
              <a:off x="0" y="4013201"/>
              <a:ext cx="448732" cy="28447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360"/>
                <a:gd name="f8" fmla="+- 0 0 -270"/>
                <a:gd name="f9" fmla="+- 0 0 -180"/>
                <a:gd name="f10" fmla="+- 0 0 -90"/>
                <a:gd name="f11" fmla="abs f3"/>
                <a:gd name="f12" fmla="abs f4"/>
                <a:gd name="f13" fmla="abs f5"/>
                <a:gd name="f14" fmla="*/ f7 f0 1"/>
                <a:gd name="f15" fmla="*/ f8 f0 1"/>
                <a:gd name="f16" fmla="*/ f9 f0 1"/>
                <a:gd name="f17" fmla="*/ f10 f0 1"/>
                <a:gd name="f18" fmla="?: f11 f3 1"/>
                <a:gd name="f19" fmla="?: f12 f4 1"/>
                <a:gd name="f20" fmla="?: f13 f5 1"/>
                <a:gd name="f21" fmla="*/ f14 1 f2"/>
                <a:gd name="f22" fmla="*/ f15 1 f2"/>
                <a:gd name="f23" fmla="*/ f16 1 f2"/>
                <a:gd name="f24" fmla="*/ f17 1 f2"/>
                <a:gd name="f25" fmla="*/ f18 1 21600"/>
                <a:gd name="f26" fmla="*/ f19 1 21600"/>
                <a:gd name="f27" fmla="*/ 21600 f18 1"/>
                <a:gd name="f28" fmla="*/ 21600 f19 1"/>
                <a:gd name="f29" fmla="+- f21 0 f1"/>
                <a:gd name="f30" fmla="+- f22 0 f1"/>
                <a:gd name="f31" fmla="+- f23 0 f1"/>
                <a:gd name="f32" fmla="+- f24 0 f1"/>
                <a:gd name="f33" fmla="min f26 f25"/>
                <a:gd name="f34" fmla="*/ f27 1 f20"/>
                <a:gd name="f35" fmla="*/ f28 1 f20"/>
                <a:gd name="f36" fmla="val f34"/>
                <a:gd name="f37" fmla="val f35"/>
                <a:gd name="f38" fmla="*/ f6 f33 1"/>
                <a:gd name="f39" fmla="+- f37 0 f6"/>
                <a:gd name="f40" fmla="+- f36 0 f6"/>
                <a:gd name="f41" fmla="*/ f37 f33 1"/>
                <a:gd name="f42" fmla="*/ f36 f33 1"/>
                <a:gd name="f43" fmla="*/ f39 1 2"/>
                <a:gd name="f44" fmla="*/ f40 1 2"/>
                <a:gd name="f45" fmla="*/ f40 f6 1"/>
                <a:gd name="f46" fmla="+- f6 f43 0"/>
                <a:gd name="f47" fmla="*/ f45 1 200000"/>
                <a:gd name="f48" fmla="*/ f45 1 100000"/>
                <a:gd name="f49" fmla="+- f47 f44 0"/>
                <a:gd name="f50" fmla="*/ f47 f33 1"/>
                <a:gd name="f51" fmla="*/ f46 f33 1"/>
                <a:gd name="f52" fmla="*/ f48 f33 1"/>
                <a:gd name="f53" fmla="*/ f49 f3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38"/>
                </a:cxn>
                <a:cxn ang="f30">
                  <a:pos x="f50" y="f51"/>
                </a:cxn>
                <a:cxn ang="f31">
                  <a:pos x="f38" y="f41"/>
                </a:cxn>
                <a:cxn ang="f31">
                  <a:pos x="f52" y="f41"/>
                </a:cxn>
                <a:cxn ang="f31">
                  <a:pos x="f42" y="f41"/>
                </a:cxn>
                <a:cxn ang="f32">
                  <a:pos x="f53" y="f51"/>
                </a:cxn>
              </a:cxnLst>
              <a:rect l="f50" t="f51" r="f53" b="f41"/>
              <a:pathLst>
                <a:path>
                  <a:moveTo>
                    <a:pt x="f38" y="f41"/>
                  </a:moveTo>
                  <a:lnTo>
                    <a:pt x="f52" y="f38"/>
                  </a:lnTo>
                  <a:lnTo>
                    <a:pt x="f42" y="f41"/>
                  </a:lnTo>
                  <a:close/>
                </a:path>
              </a:pathLst>
            </a:custGeom>
            <a:solidFill>
              <a:srgbClr val="90C226">
                <a:alpha val="85000"/>
              </a:srgbClr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AB7667-17B7-96E1-30DB-596462BC32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332" y="609603"/>
            <a:ext cx="8596667" cy="13207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E146E9E-C96E-4704-B068-058EA21071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7332" y="2160590"/>
            <a:ext cx="8596667" cy="38807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220E7F5-2966-B7FD-817F-7F6BD6BC86A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205133" y="6041358"/>
            <a:ext cx="91194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900" b="0" i="0" u="none" strike="noStrike" kern="1200" cap="none" spc="0" baseline="0">
                <a:solidFill>
                  <a:srgbClr val="898989"/>
                </a:solidFill>
                <a:uFillTx/>
                <a:latin typeface="Trebuchet MS"/>
              </a:defRPr>
            </a:lvl1pPr>
          </a:lstStyle>
          <a:p>
            <a:pPr lvl="0"/>
            <a:fld id="{4F45D654-E85A-432D-9554-74A2D919551A}" type="datetime1">
              <a:rPr lang="fr-FR"/>
              <a:pPr lvl="0"/>
              <a:t>12/01/2026</a:t>
            </a:fld>
            <a:endParaRPr lang="fr-FR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2BB5C24-632C-A843-043D-058C6F580D9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677332" y="6041358"/>
            <a:ext cx="6297609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900" b="0" i="0" u="none" strike="noStrike" kern="1200" cap="none" spc="0" baseline="0">
                <a:solidFill>
                  <a:srgbClr val="898989"/>
                </a:solidFill>
                <a:uFillTx/>
                <a:latin typeface="Trebuchet MS"/>
              </a:defRPr>
            </a:lvl1pPr>
          </a:lstStyle>
          <a:p>
            <a:pPr lvl="0"/>
            <a:endParaRPr lang="fr-FR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17C606A-FD7C-E5F5-275B-8B5D14136A2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590659" y="6041358"/>
            <a:ext cx="68334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900" b="0" i="0" u="none" strike="noStrike" kern="1200" cap="none" spc="0" baseline="0">
                <a:solidFill>
                  <a:srgbClr val="90C226"/>
                </a:solidFill>
                <a:uFillTx/>
                <a:latin typeface="Trebuchet MS"/>
              </a:defRPr>
            </a:lvl1pPr>
          </a:lstStyle>
          <a:p>
            <a:pPr lvl="0"/>
            <a:fld id="{DA91730A-DA25-4DE6-97C8-C6130272BD9C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marL="0" marR="0" lvl="0" indent="0" algn="l" defTabSz="4572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3600" b="0" i="0" u="none" strike="noStrike" kern="1200" cap="none" spc="0" baseline="0">
          <a:solidFill>
            <a:srgbClr val="90C226"/>
          </a:solidFill>
          <a:uFillTx/>
          <a:latin typeface="Trebuchet MS"/>
        </a:defRPr>
      </a:lvl1pPr>
    </p:titleStyle>
    <p:bodyStyle>
      <a:lvl1pPr marL="342900" marR="0" lvl="0" indent="-3429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90C226"/>
        </a:buClr>
        <a:buSzPct val="80000"/>
        <a:buFont typeface="Wingdings 3"/>
        <a:buChar char=""/>
        <a:tabLst/>
        <a:defRPr lang="fr-FR" sz="1800" b="0" i="0" u="none" strike="noStrike" kern="1200" cap="none" spc="0" baseline="0">
          <a:solidFill>
            <a:srgbClr val="404040"/>
          </a:solidFill>
          <a:uFillTx/>
          <a:latin typeface="Trebuchet MS"/>
        </a:defRPr>
      </a:lvl1pPr>
      <a:lvl2pPr marL="742950" marR="0" lvl="1" indent="-28575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90C226"/>
        </a:buClr>
        <a:buSzPct val="80000"/>
        <a:buFont typeface="Wingdings 3"/>
        <a:buChar char=""/>
        <a:tabLst/>
        <a:defRPr lang="fr-FR" sz="1600" b="0" i="0" u="none" strike="noStrike" kern="1200" cap="none" spc="0" baseline="0">
          <a:solidFill>
            <a:srgbClr val="404040"/>
          </a:solidFill>
          <a:uFillTx/>
          <a:latin typeface="Trebuchet MS"/>
        </a:defRPr>
      </a:lvl2pPr>
      <a:lvl3pPr marL="1143000" marR="0" lvl="2" indent="-2286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90C226"/>
        </a:buClr>
        <a:buSzPct val="80000"/>
        <a:buFont typeface="Wingdings 3"/>
        <a:buChar char=""/>
        <a:tabLst/>
        <a:defRPr lang="fr-FR" sz="1400" b="0" i="0" u="none" strike="noStrike" kern="1200" cap="none" spc="0" baseline="0">
          <a:solidFill>
            <a:srgbClr val="404040"/>
          </a:solidFill>
          <a:uFillTx/>
          <a:latin typeface="Trebuchet MS"/>
        </a:defRPr>
      </a:lvl3pPr>
      <a:lvl4pPr marL="1600200" marR="0" lvl="3" indent="-2286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90C226"/>
        </a:buClr>
        <a:buSzPct val="80000"/>
        <a:buFont typeface="Wingdings 3"/>
        <a:buChar char=""/>
        <a:tabLst/>
        <a:defRPr lang="fr-FR" sz="1200" b="0" i="0" u="none" strike="noStrike" kern="1200" cap="none" spc="0" baseline="0">
          <a:solidFill>
            <a:srgbClr val="404040"/>
          </a:solidFill>
          <a:uFillTx/>
          <a:latin typeface="Trebuchet MS"/>
        </a:defRPr>
      </a:lvl4pPr>
      <a:lvl5pPr marL="2057400" marR="0" lvl="4" indent="-228600" algn="l" defTabSz="457200" rtl="0" fontAlgn="auto" hangingPunct="1">
        <a:lnSpc>
          <a:spcPct val="100000"/>
        </a:lnSpc>
        <a:spcBef>
          <a:spcPts val="1000"/>
        </a:spcBef>
        <a:spcAft>
          <a:spcPts val="0"/>
        </a:spcAft>
        <a:buClr>
          <a:srgbClr val="90C226"/>
        </a:buClr>
        <a:buSzPct val="80000"/>
        <a:buFont typeface="Wingdings 3"/>
        <a:buChar char=""/>
        <a:tabLst/>
        <a:defRPr lang="fr-FR" sz="1200" b="0" i="0" u="none" strike="noStrike" kern="1200" cap="none" spc="0" baseline="0">
          <a:solidFill>
            <a:srgbClr val="404040"/>
          </a:solidFill>
          <a:uFillTx/>
          <a:latin typeface="Trebuchet M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5F8D07CC-417D-59BD-248A-2D45EC5D63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3343933" y="1860611"/>
            <a:ext cx="5504139" cy="313676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E84CA6EB-552E-0832-4B30-A625E7EE8926}"/>
              </a:ext>
            </a:extLst>
          </p:cNvPr>
          <p:cNvSpPr txBox="1"/>
          <p:nvPr/>
        </p:nvSpPr>
        <p:spPr>
          <a:xfrm>
            <a:off x="802063" y="929150"/>
            <a:ext cx="10587874" cy="830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i="0" u="none" strike="noStrike" kern="1200" cap="none" spc="0" baseline="0" dirty="0">
                <a:solidFill>
                  <a:srgbClr val="2C5A31"/>
                </a:solidFill>
                <a:uFillTx/>
                <a:latin typeface="Berlin Sans FB Demi" pitchFamily="34"/>
              </a:rPr>
              <a:t>ETUDE DE MARCHE 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i="0" u="none" strike="noStrike" kern="1200" cap="none" spc="0" baseline="0" dirty="0">
                <a:solidFill>
                  <a:srgbClr val="2C5A31"/>
                </a:solidFill>
                <a:uFillTx/>
                <a:latin typeface="Berlin Sans FB Demi" pitchFamily="34"/>
              </a:rPr>
              <a:t>EXPANSION DE L’ACTIVITE A L’INTERNATIONAL</a:t>
            </a:r>
          </a:p>
        </p:txBody>
      </p:sp>
      <p:sp>
        <p:nvSpPr>
          <p:cNvPr id="4" name="ZoneTexte 6">
            <a:extLst>
              <a:ext uri="{FF2B5EF4-FFF2-40B4-BE49-F238E27FC236}">
                <a16:creationId xmlns:a16="http://schemas.microsoft.com/office/drawing/2014/main" id="{2AAB2CA4-3903-C652-AF55-0A20092F6E39}"/>
              </a:ext>
            </a:extLst>
          </p:cNvPr>
          <p:cNvSpPr txBox="1"/>
          <p:nvPr/>
        </p:nvSpPr>
        <p:spPr>
          <a:xfrm>
            <a:off x="10789764" y="6022220"/>
            <a:ext cx="1578208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Berlin Sans FB Demi" pitchFamily="34"/>
              </a:rPr>
              <a:t>Rémy Maupetit 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Berlin Sans FB Demi" pitchFamily="34"/>
              </a:rPr>
              <a:t>Data </a:t>
            </a:r>
            <a:r>
              <a:rPr lang="fr-FR" sz="1200" b="1" i="0" u="none" strike="noStrike" kern="1200" cap="none" spc="0" baseline="0" dirty="0" err="1">
                <a:solidFill>
                  <a:srgbClr val="2C5A31"/>
                </a:solidFill>
                <a:uFillTx/>
                <a:latin typeface="Berlin Sans FB Demi" pitchFamily="34"/>
              </a:rPr>
              <a:t>Analyst</a:t>
            </a:r>
            <a:endParaRPr lang="fr-FR" sz="1200" b="1" i="0" u="none" strike="noStrike" kern="1200" cap="none" spc="0" baseline="0" dirty="0">
              <a:solidFill>
                <a:srgbClr val="2C5A31"/>
              </a:solidFill>
              <a:uFillTx/>
              <a:latin typeface="Berlin Sans FB Demi" pitchFamily="34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dirty="0">
                <a:solidFill>
                  <a:srgbClr val="2C5A31"/>
                </a:solidFill>
                <a:latin typeface="Berlin Sans FB Demi" pitchFamily="34"/>
              </a:rPr>
              <a:t>Janvier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Berlin Sans FB Demi" pitchFamily="34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7694C00B-7BC2-F4C8-CD5C-17AB70A371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5" y="6195769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1">
            <a:extLst>
              <a:ext uri="{FF2B5EF4-FFF2-40B4-BE49-F238E27FC236}">
                <a16:creationId xmlns:a16="http://schemas.microsoft.com/office/drawing/2014/main" id="{1F18B838-27DC-4A5B-6B5D-C3C29771CECC}"/>
              </a:ext>
            </a:extLst>
          </p:cNvPr>
          <p:cNvSpPr txBox="1"/>
          <p:nvPr/>
        </p:nvSpPr>
        <p:spPr>
          <a:xfrm>
            <a:off x="1189350" y="412421"/>
            <a:ext cx="9813304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i="0" u="none" strike="noStrike" kern="1200" cap="none" spc="0" baseline="0">
                <a:solidFill>
                  <a:srgbClr val="2C5A31"/>
                </a:solidFill>
                <a:uFillTx/>
                <a:latin typeface="Berlin Sans FB Demi" pitchFamily="34"/>
              </a:rPr>
              <a:t>SOMMAIRE</a:t>
            </a:r>
          </a:p>
        </p:txBody>
      </p:sp>
      <p:sp>
        <p:nvSpPr>
          <p:cNvPr id="4" name="ZoneTexte 4">
            <a:extLst>
              <a:ext uri="{FF2B5EF4-FFF2-40B4-BE49-F238E27FC236}">
                <a16:creationId xmlns:a16="http://schemas.microsoft.com/office/drawing/2014/main" id="{42964D48-A3A4-92FC-C4A0-B5FA5EDDEEE7}"/>
              </a:ext>
            </a:extLst>
          </p:cNvPr>
          <p:cNvSpPr txBox="1"/>
          <p:nvPr/>
        </p:nvSpPr>
        <p:spPr>
          <a:xfrm>
            <a:off x="1940416" y="1148549"/>
            <a:ext cx="8147801" cy="44012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83B330"/>
                </a:solidFill>
                <a:latin typeface="Trebuchet MS" pitchFamily="34"/>
              </a:rPr>
              <a:t>Contexte de l’étude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 pitchFamily="34"/>
              </a:rPr>
              <a:t> </a:t>
            </a:r>
            <a:r>
              <a:rPr lang="fr-FR" sz="16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</a:t>
            </a:r>
            <a:r>
              <a:rPr lang="fr-FR" sz="1600" b="1" dirty="0">
                <a:solidFill>
                  <a:srgbClr val="2C5A31"/>
                </a:solidFill>
                <a:latin typeface="Trebuchet MS" pitchFamily="34"/>
              </a:rPr>
              <a:t>Slides 3 et 4</a:t>
            </a:r>
            <a:endParaRPr lang="fr-FR" sz="16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83B330"/>
                </a:solidFill>
                <a:latin typeface="Trebuchet MS" pitchFamily="34"/>
              </a:rPr>
              <a:t>Sources de l’étude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 pitchFamily="34"/>
              </a:rPr>
              <a:t> </a:t>
            </a:r>
            <a:r>
              <a:rPr lang="fr-FR" sz="16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Slide 5 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83B330"/>
                </a:solidFill>
                <a:latin typeface="Trebuchet MS" pitchFamily="34"/>
              </a:rPr>
              <a:t>Indicateurs retenus </a:t>
            </a:r>
            <a:r>
              <a:rPr lang="fr-FR" sz="16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Slide 6 </a:t>
            </a:r>
            <a:endParaRPr lang="fr-FR" sz="16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83B330"/>
                </a:solidFill>
                <a:latin typeface="Trebuchet MS" pitchFamily="34"/>
              </a:rPr>
              <a:t>La préparation des données</a:t>
            </a:r>
            <a:r>
              <a:rPr lang="fr-FR" sz="16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Slide 7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83B330"/>
                </a:solidFill>
                <a:latin typeface="Trebuchet MS" pitchFamily="34"/>
              </a:rPr>
              <a:t>Le clustering des données </a:t>
            </a:r>
            <a:r>
              <a:rPr lang="fr-FR" sz="16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Slides 8 à 10 </a:t>
            </a:r>
            <a:endParaRPr lang="fr-FR" sz="16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83B330"/>
                </a:solidFill>
                <a:latin typeface="Trebuchet MS" pitchFamily="34"/>
              </a:rPr>
              <a:t>A</a:t>
            </a:r>
            <a:r>
              <a:rPr lang="fr-FR" sz="16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nalyse en composantes principales (ACP) </a:t>
            </a:r>
            <a:r>
              <a:rPr lang="fr-FR" sz="16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Slides 11 à </a:t>
            </a:r>
            <a:r>
              <a:rPr lang="fr-FR" sz="1600" b="1" dirty="0">
                <a:solidFill>
                  <a:srgbClr val="2C5A31"/>
                </a:solidFill>
                <a:latin typeface="Trebuchet MS" pitchFamily="34"/>
              </a:rPr>
              <a:t>14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  <a:p>
            <a:pPr marL="285750" indent="-285750">
              <a:buClr>
                <a:srgbClr val="2C5A31"/>
              </a:buCl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Détermination des pays éligibles </a:t>
            </a:r>
            <a:r>
              <a:rPr lang="fr-FR" sz="16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Slides 15 à 22</a:t>
            </a:r>
            <a:endParaRPr lang="fr-FR" sz="1600" b="1" dirty="0">
              <a:solidFill>
                <a:srgbClr val="2C5A31"/>
              </a:solidFill>
              <a:latin typeface="Trebuchet M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83B330"/>
                </a:solidFill>
                <a:latin typeface="Trebuchet MS" pitchFamily="34"/>
              </a:rPr>
              <a:t>Préconisations stratégiques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 pitchFamily="34"/>
              </a:rPr>
              <a:t> </a:t>
            </a:r>
            <a:r>
              <a:rPr lang="fr-FR" sz="16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Slide 23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83B330"/>
                </a:solidFill>
                <a:latin typeface="Trebuchet MS" pitchFamily="34"/>
              </a:rPr>
              <a:t>Conclusion</a:t>
            </a:r>
            <a:r>
              <a:rPr lang="fr-FR" sz="16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 : </a:t>
            </a:r>
            <a:r>
              <a:rPr lang="fr-FR" sz="1600" b="1" i="0" u="none" strike="noStrike" kern="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S</a:t>
            </a:r>
            <a:r>
              <a:rPr lang="fr-FR" sz="1600" b="1" dirty="0">
                <a:solidFill>
                  <a:srgbClr val="2C5A31"/>
                </a:solidFill>
                <a:latin typeface="Trebuchet MS" pitchFamily="34"/>
              </a:rPr>
              <a:t>lide 24</a:t>
            </a:r>
            <a:endParaRPr lang="fr-FR" sz="16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458530FB-AC56-5BED-61A9-68A084D311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582233" y="6084436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1">
            <a:extLst>
              <a:ext uri="{FF2B5EF4-FFF2-40B4-BE49-F238E27FC236}">
                <a16:creationId xmlns:a16="http://schemas.microsoft.com/office/drawing/2014/main" id="{BC8CE89B-50A2-F7D4-6006-E5A41F2E5743}"/>
              </a:ext>
            </a:extLst>
          </p:cNvPr>
          <p:cNvSpPr txBox="1"/>
          <p:nvPr/>
        </p:nvSpPr>
        <p:spPr>
          <a:xfrm>
            <a:off x="2613574" y="273945"/>
            <a:ext cx="6814008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i="0" u="none" strike="noStrike" kern="1200" cap="none" spc="0" baseline="0">
                <a:solidFill>
                  <a:srgbClr val="2C5A31"/>
                </a:solidFill>
                <a:uFillTx/>
                <a:latin typeface="Berlin Sans FB Demi" pitchFamily="34"/>
              </a:rPr>
              <a:t>CONTEXTE DE L’ETUDE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E388636C-C1D2-D6B3-212C-2BB5FCE3CE09}"/>
              </a:ext>
            </a:extLst>
          </p:cNvPr>
          <p:cNvSpPr txBox="1"/>
          <p:nvPr/>
        </p:nvSpPr>
        <p:spPr>
          <a:xfrm>
            <a:off x="442222" y="4685138"/>
            <a:ext cx="4503365" cy="769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sng" strike="noStrike" kern="1200" cap="none" spc="0" baseline="0">
                <a:solidFill>
                  <a:srgbClr val="2C5A31"/>
                </a:solidFill>
                <a:uFillTx/>
                <a:latin typeface="Trebuchet MS"/>
              </a:rPr>
              <a:t>Type de produit: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>
              <a:solidFill>
                <a:srgbClr val="94DE61"/>
              </a:solidFill>
              <a:uFillTx/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699841"/>
                </a:solidFill>
                <a:uFillTx/>
                <a:latin typeface="Trebuchet MS"/>
              </a:rPr>
              <a:t>Poulet Labellisé Agriculture Biologique</a:t>
            </a:r>
          </a:p>
        </p:txBody>
      </p:sp>
      <p:pic>
        <p:nvPicPr>
          <p:cNvPr id="5" name="Image 3">
            <a:extLst>
              <a:ext uri="{FF2B5EF4-FFF2-40B4-BE49-F238E27FC236}">
                <a16:creationId xmlns:a16="http://schemas.microsoft.com/office/drawing/2014/main" id="{0B3E1D06-BE84-5679-006D-B91B8FBAC1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4437382" y="2296844"/>
            <a:ext cx="3317242" cy="21281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ZoneTexte 6">
            <a:extLst>
              <a:ext uri="{FF2B5EF4-FFF2-40B4-BE49-F238E27FC236}">
                <a16:creationId xmlns:a16="http://schemas.microsoft.com/office/drawing/2014/main" id="{CD44066E-E39E-BE5F-5AD6-78745E22891A}"/>
              </a:ext>
            </a:extLst>
          </p:cNvPr>
          <p:cNvSpPr txBox="1"/>
          <p:nvPr/>
        </p:nvSpPr>
        <p:spPr>
          <a:xfrm>
            <a:off x="4632679" y="1282647"/>
            <a:ext cx="245529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sng" strike="noStrike" kern="1200" cap="none" spc="0" baseline="0">
                <a:solidFill>
                  <a:srgbClr val="2C5A31"/>
                </a:solidFill>
                <a:uFillTx/>
                <a:latin typeface="Trebuchet MS"/>
              </a:rPr>
              <a:t>Entreprise Française</a:t>
            </a:r>
          </a:p>
        </p:txBody>
      </p:sp>
      <p:sp>
        <p:nvSpPr>
          <p:cNvPr id="7" name="ZoneTexte 8">
            <a:extLst>
              <a:ext uri="{FF2B5EF4-FFF2-40B4-BE49-F238E27FC236}">
                <a16:creationId xmlns:a16="http://schemas.microsoft.com/office/drawing/2014/main" id="{5B34B723-B7B7-6607-DC60-B4BC0EAB22DE}"/>
              </a:ext>
            </a:extLst>
          </p:cNvPr>
          <p:cNvSpPr txBox="1"/>
          <p:nvPr/>
        </p:nvSpPr>
        <p:spPr>
          <a:xfrm>
            <a:off x="7223183" y="2149416"/>
            <a:ext cx="2204408" cy="769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sng" strike="noStrike" kern="1200" cap="none" spc="0" baseline="0">
                <a:solidFill>
                  <a:srgbClr val="2C5A31"/>
                </a:solidFill>
                <a:uFillTx/>
                <a:latin typeface="Trebuchet MS"/>
              </a:rPr>
              <a:t>Marché actuel: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>
              <a:solidFill>
                <a:srgbClr val="94DE61"/>
              </a:solidFill>
              <a:uFillTx/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699841"/>
                </a:solidFill>
                <a:uFillTx/>
                <a:latin typeface="Trebuchet MS"/>
              </a:rPr>
              <a:t>France</a:t>
            </a:r>
          </a:p>
        </p:txBody>
      </p:sp>
      <p:sp>
        <p:nvSpPr>
          <p:cNvPr id="8" name="ZoneTexte 10">
            <a:extLst>
              <a:ext uri="{FF2B5EF4-FFF2-40B4-BE49-F238E27FC236}">
                <a16:creationId xmlns:a16="http://schemas.microsoft.com/office/drawing/2014/main" id="{B7105591-DEB9-7E29-5E3D-68623ACC0114}"/>
              </a:ext>
            </a:extLst>
          </p:cNvPr>
          <p:cNvSpPr txBox="1"/>
          <p:nvPr/>
        </p:nvSpPr>
        <p:spPr>
          <a:xfrm>
            <a:off x="7223183" y="4685138"/>
            <a:ext cx="2349633" cy="769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sng" strike="noStrike" kern="1200" cap="none" spc="0" baseline="0">
                <a:solidFill>
                  <a:srgbClr val="2C5A31"/>
                </a:solidFill>
                <a:uFillTx/>
                <a:latin typeface="Trebuchet MS"/>
              </a:rPr>
              <a:t>Secteur d’activité: 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699841"/>
                </a:solidFill>
                <a:uFillTx/>
                <a:latin typeface="Trebuchet MS"/>
              </a:rPr>
              <a:t>Agroalimentaire</a:t>
            </a:r>
          </a:p>
        </p:txBody>
      </p:sp>
      <p:sp>
        <p:nvSpPr>
          <p:cNvPr id="9" name="ZoneTexte 12">
            <a:extLst>
              <a:ext uri="{FF2B5EF4-FFF2-40B4-BE49-F238E27FC236}">
                <a16:creationId xmlns:a16="http://schemas.microsoft.com/office/drawing/2014/main" id="{A27D6C18-F0FC-A953-C027-7FCAEA1B4E8B}"/>
              </a:ext>
            </a:extLst>
          </p:cNvPr>
          <p:cNvSpPr txBox="1"/>
          <p:nvPr/>
        </p:nvSpPr>
        <p:spPr>
          <a:xfrm>
            <a:off x="829561" y="2149416"/>
            <a:ext cx="3728694" cy="1046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sng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Activité principale: 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94DE61"/>
              </a:solidFill>
              <a:uFillTx/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Elevage et commercialisation de poulets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DFE211D2-C62D-5132-7F72-2A7CFACCF5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3" y="6216751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1">
            <a:extLst>
              <a:ext uri="{FF2B5EF4-FFF2-40B4-BE49-F238E27FC236}">
                <a16:creationId xmlns:a16="http://schemas.microsoft.com/office/drawing/2014/main" id="{3CC1A236-5062-15BD-A54D-E869B597E9B4}"/>
              </a:ext>
            </a:extLst>
          </p:cNvPr>
          <p:cNvSpPr txBox="1"/>
          <p:nvPr/>
        </p:nvSpPr>
        <p:spPr>
          <a:xfrm>
            <a:off x="2688994" y="311654"/>
            <a:ext cx="6814008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i="0" u="none" strike="noStrike" kern="1200" cap="none" spc="0" baseline="0">
                <a:solidFill>
                  <a:srgbClr val="2C5A31"/>
                </a:solidFill>
                <a:uFillTx/>
                <a:latin typeface="Berlin Sans FB Demi" pitchFamily="34"/>
              </a:rPr>
              <a:t>CONTEXTE DE L’ETUDE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2519C44C-9CE3-5311-C47E-8D0B049C888C}"/>
              </a:ext>
            </a:extLst>
          </p:cNvPr>
          <p:cNvSpPr txBox="1"/>
          <p:nvPr/>
        </p:nvSpPr>
        <p:spPr>
          <a:xfrm>
            <a:off x="866869" y="1125873"/>
            <a:ext cx="4185894" cy="769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Ambition de l’entreprise :  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Développement à l’international</a:t>
            </a:r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9E6EF54A-9834-8B4D-1FFF-CD9D9FE5D948}"/>
              </a:ext>
            </a:extLst>
          </p:cNvPr>
          <p:cNvSpPr txBox="1"/>
          <p:nvPr/>
        </p:nvSpPr>
        <p:spPr>
          <a:xfrm>
            <a:off x="5240901" y="2094579"/>
            <a:ext cx="3926269" cy="769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Comment ? 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En réalisant une étude de marché </a:t>
            </a:r>
          </a:p>
        </p:txBody>
      </p:sp>
      <p:sp>
        <p:nvSpPr>
          <p:cNvPr id="6" name="ZoneTexte 6">
            <a:extLst>
              <a:ext uri="{FF2B5EF4-FFF2-40B4-BE49-F238E27FC236}">
                <a16:creationId xmlns:a16="http://schemas.microsoft.com/office/drawing/2014/main" id="{78CE8B4F-70E9-B774-CAC0-80C7E9A3FE02}"/>
              </a:ext>
            </a:extLst>
          </p:cNvPr>
          <p:cNvSpPr txBox="1"/>
          <p:nvPr/>
        </p:nvSpPr>
        <p:spPr>
          <a:xfrm>
            <a:off x="522771" y="3044284"/>
            <a:ext cx="5266047" cy="769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Pourquoi ? 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solidFill>
                  <a:srgbClr val="699841"/>
                </a:solidFill>
                <a:latin typeface="Trebuchet MS"/>
              </a:rPr>
              <a:t>Identifier</a:t>
            </a:r>
            <a:r>
              <a:rPr lang="fr-FR" sz="18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les marchés les plus porteurs </a:t>
            </a:r>
          </a:p>
        </p:txBody>
      </p:sp>
      <p:sp>
        <p:nvSpPr>
          <p:cNvPr id="7" name="ZoneTexte 7">
            <a:extLst>
              <a:ext uri="{FF2B5EF4-FFF2-40B4-BE49-F238E27FC236}">
                <a16:creationId xmlns:a16="http://schemas.microsoft.com/office/drawing/2014/main" id="{1CD40E6E-5B1B-319B-1B52-B193C2795384}"/>
              </a:ext>
            </a:extLst>
          </p:cNvPr>
          <p:cNvSpPr txBox="1"/>
          <p:nvPr/>
        </p:nvSpPr>
        <p:spPr>
          <a:xfrm>
            <a:off x="4571012" y="4336624"/>
            <a:ext cx="5266047" cy="769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Dans quelles zones géographiques ? 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solidFill>
                  <a:srgbClr val="699841"/>
                </a:solidFill>
                <a:latin typeface="Trebuchet MS"/>
              </a:rPr>
              <a:t>Aucune</a:t>
            </a:r>
            <a:r>
              <a:rPr lang="fr-FR" sz="18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préférence initiale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3A4799DF-4DCE-65DB-AE9C-6FBCB535BB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3" y="6167504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1">
            <a:extLst>
              <a:ext uri="{FF2B5EF4-FFF2-40B4-BE49-F238E27FC236}">
                <a16:creationId xmlns:a16="http://schemas.microsoft.com/office/drawing/2014/main" id="{320E7027-C138-0BEB-6151-F91D252753BC}"/>
              </a:ext>
            </a:extLst>
          </p:cNvPr>
          <p:cNvSpPr txBox="1"/>
          <p:nvPr/>
        </p:nvSpPr>
        <p:spPr>
          <a:xfrm>
            <a:off x="2688994" y="311654"/>
            <a:ext cx="6814008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i="0" u="none" strike="noStrike" kern="1200" cap="none" spc="0" baseline="0">
                <a:solidFill>
                  <a:srgbClr val="2C5A31"/>
                </a:solidFill>
                <a:uFillTx/>
                <a:latin typeface="Berlin Sans FB Demi" pitchFamily="34"/>
              </a:rPr>
              <a:t>LES SOURCES DE L’ETUDE</a:t>
            </a:r>
          </a:p>
        </p:txBody>
      </p:sp>
      <p:sp>
        <p:nvSpPr>
          <p:cNvPr id="4" name="ZoneTexte 4">
            <a:extLst>
              <a:ext uri="{FF2B5EF4-FFF2-40B4-BE49-F238E27FC236}">
                <a16:creationId xmlns:a16="http://schemas.microsoft.com/office/drawing/2014/main" id="{B1EF156B-F25D-60EE-B2ED-21D91D55D4A0}"/>
              </a:ext>
            </a:extLst>
          </p:cNvPr>
          <p:cNvSpPr txBox="1"/>
          <p:nvPr/>
        </p:nvSpPr>
        <p:spPr>
          <a:xfrm>
            <a:off x="698025" y="1138610"/>
            <a:ext cx="9509458" cy="37856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9 fichiers .CSV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DisponibilitéAlimentaire_2017 </a:t>
            </a:r>
            <a:r>
              <a:rPr lang="fr-FR" sz="12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 pitchFamily="34"/>
              </a:rPr>
              <a:t>(FAO) </a:t>
            </a:r>
            <a:r>
              <a:rPr lang="fr-FR" sz="11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Liste des </a:t>
            </a:r>
            <a:r>
              <a:rPr lang="fr-FR" sz="1100" b="1" i="0" u="none" strike="noStrike" kern="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produits alimentaires disponibles, produits et importés par </a:t>
            </a:r>
            <a:r>
              <a:rPr lang="fr-FR" sz="11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pays en 2017</a:t>
            </a:r>
            <a:endParaRPr lang="fr-FR" sz="18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Population_2000_2018 </a:t>
            </a:r>
            <a:r>
              <a:rPr lang="fr-FR" sz="12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 pitchFamily="34"/>
              </a:rPr>
              <a:t>(FAO)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Population par pays de 2000 à 2018  </a:t>
            </a:r>
            <a:endParaRPr lang="fr-FR" sz="14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%_pop_urbaine_2017</a:t>
            </a:r>
            <a:r>
              <a:rPr lang="fr-FR" sz="18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 </a:t>
            </a:r>
            <a:r>
              <a:rPr lang="fr-FR" sz="12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 pitchFamily="34"/>
              </a:rPr>
              <a:t>(World Bank)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Part de population de chaque pays vivant en zone urbaine en 2017 </a:t>
            </a:r>
            <a:endParaRPr lang="fr-FR" sz="12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croissance_PIB_2017 </a:t>
            </a:r>
            <a:r>
              <a:rPr lang="fr-FR" sz="12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 pitchFamily="34"/>
              </a:rPr>
              <a:t>(World Bank)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Taux de croissance du PIB par pays en 2017</a:t>
            </a:r>
            <a:endParaRPr lang="fr-FR" sz="14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doing_business_2017 </a:t>
            </a:r>
            <a:r>
              <a:rPr lang="fr-FR" sz="12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 pitchFamily="34"/>
              </a:rPr>
              <a:t>(World Bank)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Score de </a:t>
            </a:r>
            <a:r>
              <a:rPr lang="fr-FR" sz="1200" b="1" i="0" u="none" strike="noStrike" kern="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D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oing Business par pays en 2017</a:t>
            </a:r>
            <a:endParaRPr lang="fr-FR" sz="14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IDH_2017 </a:t>
            </a:r>
            <a:r>
              <a:rPr lang="fr-FR" sz="12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 pitchFamily="34"/>
              </a:rPr>
              <a:t>(World Bank)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Indice de développement humain par pays en 2017</a:t>
            </a:r>
            <a:endParaRPr lang="fr-FR" sz="16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pib_par_habitants_2017 </a:t>
            </a:r>
            <a:r>
              <a:rPr lang="fr-FR" sz="12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 pitchFamily="34"/>
              </a:rPr>
              <a:t>(World Bank) </a:t>
            </a:r>
            <a:r>
              <a:rPr lang="fr-FR" sz="14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PIB / Habitants par pays en 2017</a:t>
            </a:r>
            <a:endParaRPr lang="fr-FR" sz="14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stabilité_politique_2017</a:t>
            </a:r>
            <a:r>
              <a:rPr lang="fr-FR" sz="18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 </a:t>
            </a:r>
            <a:r>
              <a:rPr lang="fr-FR" sz="12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 pitchFamily="34"/>
              </a:rPr>
              <a:t>(World Bank)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: Score de stabilité politique de chaque pays en 2017</a:t>
            </a:r>
            <a:endParaRPr lang="fr-FR" sz="14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 err="1">
                <a:solidFill>
                  <a:srgbClr val="83B330"/>
                </a:solidFill>
                <a:uFillTx/>
                <a:latin typeface="Trebuchet MS" pitchFamily="34"/>
              </a:rPr>
              <a:t>liaison_zone_fr_en</a:t>
            </a:r>
            <a:r>
              <a:rPr lang="fr-FR" sz="1600" b="1" i="0" u="none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 : </a:t>
            </a:r>
            <a:r>
              <a:rPr lang="fr-FR" sz="1200" b="1" kern="0" dirty="0">
                <a:solidFill>
                  <a:srgbClr val="2C5A31"/>
                </a:solidFill>
                <a:latin typeface="Trebuchet MS" pitchFamily="34"/>
              </a:rPr>
              <a:t>Table de correspondance</a:t>
            </a:r>
            <a:r>
              <a:rPr lang="fr-FR" sz="1200" b="1" dirty="0">
                <a:solidFill>
                  <a:srgbClr val="2C5A31"/>
                </a:solidFill>
                <a:latin typeface="Trebuchet MS" pitchFamily="34"/>
              </a:rPr>
              <a:t>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des pays </a:t>
            </a:r>
            <a:r>
              <a:rPr lang="fr-FR" sz="1200" b="1" dirty="0">
                <a:solidFill>
                  <a:srgbClr val="2C5A31"/>
                </a:solidFill>
                <a:latin typeface="Trebuchet MS" pitchFamily="34"/>
              </a:rPr>
              <a:t>(FR/EN)</a:t>
            </a:r>
            <a:endParaRPr lang="fr-FR" sz="16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08AFECCB-8A82-28E2-2BC9-A72AE4948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3" y="6167729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1">
            <a:extLst>
              <a:ext uri="{FF2B5EF4-FFF2-40B4-BE49-F238E27FC236}">
                <a16:creationId xmlns:a16="http://schemas.microsoft.com/office/drawing/2014/main" id="{E39B0399-750B-7972-C4EF-D57BF8FDF0FB}"/>
              </a:ext>
            </a:extLst>
          </p:cNvPr>
          <p:cNvSpPr txBox="1"/>
          <p:nvPr/>
        </p:nvSpPr>
        <p:spPr>
          <a:xfrm>
            <a:off x="2688994" y="60761"/>
            <a:ext cx="6814008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i="0" u="none" strike="noStrike" kern="0" cap="none" spc="0" baseline="0">
                <a:solidFill>
                  <a:srgbClr val="2C5A31"/>
                </a:solidFill>
                <a:uFillTx/>
                <a:latin typeface="Berlin Sans FB Demi" pitchFamily="34"/>
              </a:rPr>
              <a:t>LES INDICATEURS RETENUS</a:t>
            </a:r>
            <a:endParaRPr lang="fr-FR" sz="2800" b="1" i="0" u="none" strike="noStrike" kern="1200" cap="none" spc="0" baseline="0">
              <a:solidFill>
                <a:srgbClr val="2C5A31"/>
              </a:solidFill>
              <a:uFillTx/>
              <a:latin typeface="Berlin Sans FB Demi" pitchFamily="34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5488F44-B082-F5DE-4B8B-E27DD34654E8}"/>
              </a:ext>
            </a:extLst>
          </p:cNvPr>
          <p:cNvSpPr txBox="1"/>
          <p:nvPr/>
        </p:nvSpPr>
        <p:spPr>
          <a:xfrm>
            <a:off x="1102220" y="2280819"/>
            <a:ext cx="8734202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indent="-285750">
              <a:buClr>
                <a:srgbClr val="2C5A31"/>
              </a:buCl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83B330"/>
                </a:solidFill>
                <a:latin typeface="Trebuchet MS" pitchFamily="34"/>
              </a:rPr>
              <a:t>P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opulation: </a:t>
            </a:r>
            <a:r>
              <a:rPr lang="fr-FR" sz="1200" b="1" kern="0" dirty="0">
                <a:solidFill>
                  <a:srgbClr val="2C5A31"/>
                </a:solidFill>
                <a:latin typeface="Trebuchet MS" pitchFamily="34"/>
              </a:rPr>
              <a:t>Evalue le</a:t>
            </a:r>
            <a:r>
              <a:rPr lang="fr-FR" sz="1200" b="1" i="0" u="none" strike="noStrike" kern="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 volume </a:t>
            </a:r>
            <a:r>
              <a:rPr lang="fr-FR" sz="1200" b="1" kern="0" dirty="0">
                <a:solidFill>
                  <a:srgbClr val="2C5A31"/>
                </a:solidFill>
                <a:latin typeface="Trebuchet MS" pitchFamily="34"/>
              </a:rPr>
              <a:t>potentiel du</a:t>
            </a:r>
            <a:r>
              <a:rPr lang="fr-FR" sz="1200" b="1" i="0" u="none" strike="noStrike" kern="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 marché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 </a:t>
            </a:r>
            <a:endParaRPr lang="fr-FR" sz="14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</p:txBody>
      </p:sp>
      <p:sp>
        <p:nvSpPr>
          <p:cNvPr id="5" name="ZoneTexte 5">
            <a:extLst>
              <a:ext uri="{FF2B5EF4-FFF2-40B4-BE49-F238E27FC236}">
                <a16:creationId xmlns:a16="http://schemas.microsoft.com/office/drawing/2014/main" id="{0F99B341-3D6C-96D5-E101-1EB8A57E26A1}"/>
              </a:ext>
            </a:extLst>
          </p:cNvPr>
          <p:cNvSpPr txBox="1"/>
          <p:nvPr/>
        </p:nvSpPr>
        <p:spPr>
          <a:xfrm>
            <a:off x="1102220" y="846295"/>
            <a:ext cx="8734202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83B330"/>
                </a:solidFill>
                <a:latin typeface="Trebuchet MS" pitchFamily="34"/>
              </a:rPr>
              <a:t>D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isponibilité alimentaire de viande de volailles par habitant: </a:t>
            </a:r>
            <a:r>
              <a:rPr lang="fr-FR" sz="1200" b="1" kern="0" dirty="0">
                <a:solidFill>
                  <a:srgbClr val="2C5A31"/>
                </a:solidFill>
                <a:latin typeface="Trebuchet MS" pitchFamily="34"/>
              </a:rPr>
              <a:t>Indique</a:t>
            </a:r>
            <a:r>
              <a:rPr lang="fr-FR" sz="1200" b="1" i="0" u="none" strike="noStrike" kern="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 l’appétence pour un produit</a:t>
            </a:r>
            <a:endParaRPr lang="fr-FR" sz="12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</p:txBody>
      </p:sp>
      <p:sp>
        <p:nvSpPr>
          <p:cNvPr id="6" name="ZoneTexte 6">
            <a:extLst>
              <a:ext uri="{FF2B5EF4-FFF2-40B4-BE49-F238E27FC236}">
                <a16:creationId xmlns:a16="http://schemas.microsoft.com/office/drawing/2014/main" id="{2E513BBE-A4E5-F471-3C92-4BCD368C36C6}"/>
              </a:ext>
            </a:extLst>
          </p:cNvPr>
          <p:cNvSpPr txBox="1"/>
          <p:nvPr/>
        </p:nvSpPr>
        <p:spPr>
          <a:xfrm>
            <a:off x="1102220" y="1323309"/>
            <a:ext cx="8734202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indent="-285750">
              <a:buClr>
                <a:srgbClr val="2C5A31"/>
              </a:buCl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83B330"/>
                </a:solidFill>
                <a:latin typeface="Trebuchet MS" pitchFamily="34"/>
              </a:rPr>
              <a:t>P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roduction de viande de volailles: </a:t>
            </a:r>
            <a:r>
              <a:rPr lang="fr-FR" sz="1200" b="1" kern="0" dirty="0">
                <a:solidFill>
                  <a:srgbClr val="2C5A31"/>
                </a:solidFill>
                <a:latin typeface="Trebuchet MS" pitchFamily="34"/>
              </a:rPr>
              <a:t>A</a:t>
            </a:r>
            <a:r>
              <a:rPr lang="fr-FR" sz="1200" b="1" i="0" u="none" strike="noStrike" kern="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nalyse la dynamique </a:t>
            </a:r>
            <a:r>
              <a:rPr lang="fr-FR" sz="1200" b="1" kern="0" dirty="0">
                <a:solidFill>
                  <a:srgbClr val="2C5A31"/>
                </a:solidFill>
                <a:latin typeface="Trebuchet MS" pitchFamily="34"/>
              </a:rPr>
              <a:t>locale du</a:t>
            </a:r>
            <a:r>
              <a:rPr lang="fr-FR" sz="1200" b="1" i="0" u="none" strike="noStrike" kern="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 marché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 </a:t>
            </a:r>
            <a:endParaRPr lang="fr-FR" sz="14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</p:txBody>
      </p:sp>
      <p:sp>
        <p:nvSpPr>
          <p:cNvPr id="7" name="ZoneTexte 7">
            <a:extLst>
              <a:ext uri="{FF2B5EF4-FFF2-40B4-BE49-F238E27FC236}">
                <a16:creationId xmlns:a16="http://schemas.microsoft.com/office/drawing/2014/main" id="{688DEFB6-2345-1121-D3DA-410B06406E41}"/>
              </a:ext>
            </a:extLst>
          </p:cNvPr>
          <p:cNvSpPr txBox="1"/>
          <p:nvPr/>
        </p:nvSpPr>
        <p:spPr>
          <a:xfrm>
            <a:off x="1102220" y="1804641"/>
            <a:ext cx="8734202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indent="-285750">
              <a:buClr>
                <a:srgbClr val="2C5A31"/>
              </a:buCl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83B330"/>
                </a:solidFill>
                <a:latin typeface="Trebuchet MS" pitchFamily="34"/>
              </a:rPr>
              <a:t>I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mportations de viande de volailles:</a:t>
            </a:r>
            <a:r>
              <a:rPr lang="fr-FR" sz="1200" b="1" kern="0" dirty="0">
                <a:solidFill>
                  <a:srgbClr val="2C5A31"/>
                </a:solidFill>
                <a:latin typeface="Trebuchet MS" pitchFamily="34"/>
              </a:rPr>
              <a:t> Identifie</a:t>
            </a:r>
            <a:r>
              <a:rPr lang="fr-FR" sz="1200" b="1" i="0" u="none" strike="noStrike" kern="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 les pays dépendants de l’offre extérieure </a:t>
            </a:r>
            <a:endParaRPr lang="fr-FR" sz="12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</p:txBody>
      </p:sp>
      <p:sp>
        <p:nvSpPr>
          <p:cNvPr id="8" name="ZoneTexte 6">
            <a:extLst>
              <a:ext uri="{FF2B5EF4-FFF2-40B4-BE49-F238E27FC236}">
                <a16:creationId xmlns:a16="http://schemas.microsoft.com/office/drawing/2014/main" id="{685E2453-47E6-3468-1616-361D699B616E}"/>
              </a:ext>
            </a:extLst>
          </p:cNvPr>
          <p:cNvSpPr txBox="1"/>
          <p:nvPr/>
        </p:nvSpPr>
        <p:spPr>
          <a:xfrm>
            <a:off x="1102220" y="2762151"/>
            <a:ext cx="8734202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83B330"/>
                </a:solidFill>
                <a:latin typeface="Trebuchet MS" pitchFamily="34"/>
              </a:rPr>
              <a:t>P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ourcentage de population urbaine: </a:t>
            </a:r>
            <a:r>
              <a:rPr lang="fr-FR" sz="1200" b="1" dirty="0">
                <a:solidFill>
                  <a:srgbClr val="2C5A31"/>
                </a:solidFill>
                <a:latin typeface="Trebuchet MS" pitchFamily="34"/>
              </a:rPr>
              <a:t>Mesure la facilité d’accès au marché</a:t>
            </a:r>
            <a:endParaRPr lang="fr-FR" sz="12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</p:txBody>
      </p:sp>
      <p:sp>
        <p:nvSpPr>
          <p:cNvPr id="9" name="ZoneTexte 4">
            <a:extLst>
              <a:ext uri="{FF2B5EF4-FFF2-40B4-BE49-F238E27FC236}">
                <a16:creationId xmlns:a16="http://schemas.microsoft.com/office/drawing/2014/main" id="{3CC4C178-FF74-4E26-E634-206B56B213AD}"/>
              </a:ext>
            </a:extLst>
          </p:cNvPr>
          <p:cNvSpPr txBox="1"/>
          <p:nvPr/>
        </p:nvSpPr>
        <p:spPr>
          <a:xfrm>
            <a:off x="1102220" y="3243483"/>
            <a:ext cx="8734202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83B330"/>
                </a:solidFill>
                <a:latin typeface="Trebuchet MS" pitchFamily="34"/>
              </a:rPr>
              <a:t>C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roissance du </a:t>
            </a:r>
            <a:r>
              <a:rPr lang="fr-FR" sz="1400" b="1" i="0" strike="noStrike" kern="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PIB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 : </a:t>
            </a:r>
            <a:r>
              <a:rPr lang="fr-FR" sz="1200" b="1" dirty="0">
                <a:solidFill>
                  <a:srgbClr val="2C5A31"/>
                </a:solidFill>
                <a:latin typeface="Trebuchet MS" pitchFamily="34"/>
              </a:rPr>
              <a:t>Apprécie le potentiel économique</a:t>
            </a:r>
            <a:endParaRPr lang="fr-FR" sz="1200" b="1" i="0" u="none" strike="noStrike" kern="1200" cap="none" spc="0" baseline="0" dirty="0">
              <a:solidFill>
                <a:srgbClr val="2C5A31"/>
              </a:solidFill>
              <a:uFillTx/>
              <a:latin typeface="Trebuchet MS" pitchFamily="34"/>
            </a:endParaRPr>
          </a:p>
        </p:txBody>
      </p:sp>
      <p:sp>
        <p:nvSpPr>
          <p:cNvPr id="10" name="ZoneTexte 4">
            <a:extLst>
              <a:ext uri="{FF2B5EF4-FFF2-40B4-BE49-F238E27FC236}">
                <a16:creationId xmlns:a16="http://schemas.microsoft.com/office/drawing/2014/main" id="{26593629-F572-2450-0E75-13479CF4E46C}"/>
              </a:ext>
            </a:extLst>
          </p:cNvPr>
          <p:cNvSpPr txBox="1"/>
          <p:nvPr/>
        </p:nvSpPr>
        <p:spPr>
          <a:xfrm>
            <a:off x="1102220" y="3724815"/>
            <a:ext cx="8734202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83B330"/>
                </a:solidFill>
                <a:latin typeface="Trebuchet MS" pitchFamily="34"/>
              </a:rPr>
              <a:t>S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core </a:t>
            </a:r>
            <a:r>
              <a:rPr lang="fr-FR" sz="1400" b="1" i="0" strike="noStrike" kern="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D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oing Business :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 Evalue l’attractivité économique</a:t>
            </a:r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4E8916E1-5482-2175-AB28-E46E96D50576}"/>
              </a:ext>
            </a:extLst>
          </p:cNvPr>
          <p:cNvSpPr txBox="1"/>
          <p:nvPr/>
        </p:nvSpPr>
        <p:spPr>
          <a:xfrm>
            <a:off x="1102220" y="4206147"/>
            <a:ext cx="8734202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83B330"/>
                </a:solidFill>
                <a:latin typeface="Trebuchet MS" pitchFamily="34"/>
              </a:rPr>
              <a:t>I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ndice de développement humain (IDH): </a:t>
            </a:r>
            <a:r>
              <a:rPr lang="fr-FR" sz="1200" b="1" i="0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M</a:t>
            </a:r>
            <a:r>
              <a:rPr lang="fr-FR" sz="1200" b="1" dirty="0">
                <a:solidFill>
                  <a:srgbClr val="2C5A31"/>
                </a:solidFill>
                <a:latin typeface="Trebuchet MS" pitchFamily="34"/>
              </a:rPr>
              <a:t>esure le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 développement socio-économique</a:t>
            </a:r>
          </a:p>
        </p:txBody>
      </p:sp>
      <p:sp>
        <p:nvSpPr>
          <p:cNvPr id="12" name="ZoneTexte 4">
            <a:extLst>
              <a:ext uri="{FF2B5EF4-FFF2-40B4-BE49-F238E27FC236}">
                <a16:creationId xmlns:a16="http://schemas.microsoft.com/office/drawing/2014/main" id="{0BBD4528-7BFC-7E16-9B89-96975F5B25FD}"/>
              </a:ext>
            </a:extLst>
          </p:cNvPr>
          <p:cNvSpPr txBox="1"/>
          <p:nvPr/>
        </p:nvSpPr>
        <p:spPr>
          <a:xfrm>
            <a:off x="1102220" y="4687479"/>
            <a:ext cx="8734202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strike="noStrike" kern="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PIB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 par</a:t>
            </a:r>
            <a:r>
              <a:rPr lang="fr-FR" sz="1400" b="1" i="0" strike="noStrike" kern="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 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habitant :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Permet d’adapter la stratégie commerciale en fonction du pouvoir d’achat des populations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FA03969-D511-0B53-B6B1-7B36B75071FE}"/>
              </a:ext>
            </a:extLst>
          </p:cNvPr>
          <p:cNvSpPr txBox="1"/>
          <p:nvPr/>
        </p:nvSpPr>
        <p:spPr>
          <a:xfrm>
            <a:off x="1102220" y="5166749"/>
            <a:ext cx="8734202" cy="4308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83B330"/>
                </a:solidFill>
                <a:latin typeface="Trebuchet MS" pitchFamily="34"/>
              </a:rPr>
              <a:t>S</a:t>
            </a:r>
            <a:r>
              <a:rPr lang="fr-FR" sz="1400" b="1" i="0" strike="noStrike" kern="1200" cap="none" spc="0" baseline="0" dirty="0">
                <a:solidFill>
                  <a:srgbClr val="83B330"/>
                </a:solidFill>
                <a:uFillTx/>
                <a:latin typeface="Trebuchet MS" pitchFamily="34"/>
              </a:rPr>
              <a:t>core de stabilité politique: </a:t>
            </a:r>
            <a:r>
              <a:rPr lang="fr-FR" sz="1200" b="1" kern="0" dirty="0">
                <a:solidFill>
                  <a:srgbClr val="2C5A31"/>
                </a:solidFill>
                <a:latin typeface="Trebuchet MS" pitchFamily="34"/>
              </a:rPr>
              <a:t>Apprécie</a:t>
            </a:r>
            <a:r>
              <a:rPr lang="fr-FR" sz="1200" b="1" i="0" u="none" strike="noStrike" kern="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 pitchFamily="34"/>
              </a:rPr>
              <a:t>le climat sécuritaire et institutionnel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83B330"/>
              </a:solidFill>
              <a:uFillTx/>
              <a:latin typeface="Trebuchet MS" pitchFamily="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2C8FC2FC-A23C-7127-74DE-AE42C1738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48" y="6216749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1">
            <a:extLst>
              <a:ext uri="{FF2B5EF4-FFF2-40B4-BE49-F238E27FC236}">
                <a16:creationId xmlns:a16="http://schemas.microsoft.com/office/drawing/2014/main" id="{1F9E9D22-14E8-C5C1-AA25-1DED98797CA3}"/>
              </a:ext>
            </a:extLst>
          </p:cNvPr>
          <p:cNvSpPr txBox="1"/>
          <p:nvPr/>
        </p:nvSpPr>
        <p:spPr>
          <a:xfrm>
            <a:off x="1197068" y="309634"/>
            <a:ext cx="8340123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i="0" u="none" strike="noStrike" kern="1200" cap="none" spc="0" baseline="0" dirty="0">
                <a:solidFill>
                  <a:srgbClr val="2C5A31"/>
                </a:solidFill>
                <a:uFillTx/>
                <a:latin typeface="Berlin Sans FB Demi" pitchFamily="34"/>
              </a:rPr>
              <a:t>PREPARATION DES DONNEES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6E2557A4-303D-F715-732B-C4BFDA0C3E58}"/>
              </a:ext>
            </a:extLst>
          </p:cNvPr>
          <p:cNvSpPr txBox="1"/>
          <p:nvPr/>
        </p:nvSpPr>
        <p:spPr>
          <a:xfrm>
            <a:off x="866869" y="1125873"/>
            <a:ext cx="4500265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Logiciel utilisé</a:t>
            </a: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: </a:t>
            </a:r>
            <a:r>
              <a:rPr lang="fr-FR" sz="1800" b="1" i="0" u="none" strike="noStrike" kern="0" cap="none" spc="0" baseline="0" dirty="0" err="1">
                <a:solidFill>
                  <a:srgbClr val="699841"/>
                </a:solidFill>
                <a:uFillTx/>
                <a:latin typeface="Trebuchet MS"/>
              </a:rPr>
              <a:t>Jupyter</a:t>
            </a:r>
            <a:r>
              <a:rPr lang="fr-FR" sz="18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 </a:t>
            </a:r>
            <a:r>
              <a:rPr lang="fr-FR" b="1" kern="0" dirty="0">
                <a:solidFill>
                  <a:srgbClr val="699841"/>
                </a:solidFill>
                <a:latin typeface="Trebuchet MS"/>
              </a:rPr>
              <a:t>N</a:t>
            </a:r>
            <a:r>
              <a:rPr lang="fr-FR" sz="18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otebook</a:t>
            </a:r>
            <a:endParaRPr lang="fr-FR" sz="18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</p:txBody>
      </p:sp>
      <p:sp>
        <p:nvSpPr>
          <p:cNvPr id="5" name="ZoneTexte 6">
            <a:extLst>
              <a:ext uri="{FF2B5EF4-FFF2-40B4-BE49-F238E27FC236}">
                <a16:creationId xmlns:a16="http://schemas.microsoft.com/office/drawing/2014/main" id="{03B4EADA-E781-2A1A-D1FE-4CFCE4F7CD34}"/>
              </a:ext>
            </a:extLst>
          </p:cNvPr>
          <p:cNvSpPr txBox="1"/>
          <p:nvPr/>
        </p:nvSpPr>
        <p:spPr>
          <a:xfrm>
            <a:off x="-408133" y="5292794"/>
            <a:ext cx="526604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0" cap="none" spc="0" baseline="0">
                <a:solidFill>
                  <a:srgbClr val="2C5A31"/>
                </a:solidFill>
                <a:uFillTx/>
                <a:latin typeface="Trebuchet MS"/>
              </a:rPr>
              <a:t>Nombre de pays conservés:</a:t>
            </a:r>
            <a:r>
              <a:rPr lang="fr-FR" sz="1600" b="1" i="0" u="none" strike="noStrike" kern="1200" cap="none" spc="0" baseline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sz="1800" b="1" i="0" u="none" strike="noStrike" kern="0" cap="none" spc="0" baseline="0">
                <a:solidFill>
                  <a:srgbClr val="699841"/>
                </a:solidFill>
                <a:uFillTx/>
                <a:latin typeface="Trebuchet MS"/>
              </a:rPr>
              <a:t>159</a:t>
            </a:r>
            <a:r>
              <a:rPr lang="fr-FR" sz="1800" b="1" i="0" u="none" strike="noStrike" kern="1200" cap="none" spc="0" baseline="0">
                <a:solidFill>
                  <a:srgbClr val="699841"/>
                </a:solidFill>
                <a:uFillTx/>
                <a:latin typeface="Trebuchet MS"/>
              </a:rPr>
              <a:t> </a:t>
            </a:r>
            <a:endParaRPr lang="fr-FR" sz="1600" b="1" i="0" u="none" strike="noStrike" kern="1200" cap="none" spc="0" baseline="0">
              <a:solidFill>
                <a:srgbClr val="699841"/>
              </a:solidFill>
              <a:uFillTx/>
              <a:latin typeface="Trebuchet MS"/>
            </a:endParaRPr>
          </a:p>
        </p:txBody>
      </p:sp>
      <p:sp>
        <p:nvSpPr>
          <p:cNvPr id="6" name="ZoneTexte 7">
            <a:extLst>
              <a:ext uri="{FF2B5EF4-FFF2-40B4-BE49-F238E27FC236}">
                <a16:creationId xmlns:a16="http://schemas.microsoft.com/office/drawing/2014/main" id="{E1B25A6A-6EBE-1EB5-83AF-87F213A3B12E}"/>
              </a:ext>
            </a:extLst>
          </p:cNvPr>
          <p:cNvSpPr txBox="1"/>
          <p:nvPr/>
        </p:nvSpPr>
        <p:spPr>
          <a:xfrm>
            <a:off x="4030181" y="5292794"/>
            <a:ext cx="625171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% de la population mondiale représentée (2017):</a:t>
            </a:r>
            <a:r>
              <a:rPr lang="fr-FR" sz="16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sz="18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94,9%</a:t>
            </a:r>
            <a:endParaRPr lang="fr-FR" sz="18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</p:txBody>
      </p:sp>
      <p:sp>
        <p:nvSpPr>
          <p:cNvPr id="7" name="ZoneTexte 2">
            <a:extLst>
              <a:ext uri="{FF2B5EF4-FFF2-40B4-BE49-F238E27FC236}">
                <a16:creationId xmlns:a16="http://schemas.microsoft.com/office/drawing/2014/main" id="{CEC6A7E5-C5A3-D5CB-CD0D-C3BDE0E8E317}"/>
              </a:ext>
            </a:extLst>
          </p:cNvPr>
          <p:cNvSpPr txBox="1"/>
          <p:nvPr/>
        </p:nvSpPr>
        <p:spPr>
          <a:xfrm>
            <a:off x="6095993" y="1125873"/>
            <a:ext cx="4185894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2C5A31"/>
                </a:solidFill>
                <a:uFillTx/>
                <a:latin typeface="Trebuchet MS"/>
              </a:rPr>
              <a:t>Langage utilisé</a:t>
            </a:r>
            <a:r>
              <a:rPr lang="fr-FR" sz="1800" b="1" i="0" u="none" strike="noStrike" kern="1200" cap="none" spc="0" baseline="0">
                <a:solidFill>
                  <a:srgbClr val="2C5A31"/>
                </a:solidFill>
                <a:uFillTx/>
                <a:latin typeface="Trebuchet MS"/>
              </a:rPr>
              <a:t>: </a:t>
            </a:r>
            <a:r>
              <a:rPr lang="fr-FR" sz="1800" b="1" i="0" u="none" strike="noStrike" kern="1200" cap="none" spc="0" baseline="0">
                <a:solidFill>
                  <a:srgbClr val="699841"/>
                </a:solidFill>
                <a:uFillTx/>
                <a:latin typeface="Trebuchet MS"/>
              </a:rPr>
              <a:t>Python</a:t>
            </a:r>
          </a:p>
        </p:txBody>
      </p:sp>
      <p:sp>
        <p:nvSpPr>
          <p:cNvPr id="8" name="ZoneTexte 5">
            <a:extLst>
              <a:ext uri="{FF2B5EF4-FFF2-40B4-BE49-F238E27FC236}">
                <a16:creationId xmlns:a16="http://schemas.microsoft.com/office/drawing/2014/main" id="{7DD046F4-10CF-0709-C113-EDC9417A97C3}"/>
              </a:ext>
            </a:extLst>
          </p:cNvPr>
          <p:cNvSpPr txBox="1"/>
          <p:nvPr/>
        </p:nvSpPr>
        <p:spPr>
          <a:xfrm>
            <a:off x="2208769" y="1639674"/>
            <a:ext cx="6897758" cy="35086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Etapes réalisées</a:t>
            </a: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i="0" u="none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1. 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Importation des </a:t>
            </a: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bibliothèques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et des fichiers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i="0" u="none" strike="noStrike" kern="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2. </a:t>
            </a:r>
            <a:r>
              <a:rPr lang="fr-FR" sz="16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Exploration et </a:t>
            </a:r>
            <a:r>
              <a:rPr lang="fr-FR" sz="1600" b="1" kern="0" dirty="0">
                <a:solidFill>
                  <a:srgbClr val="699841"/>
                </a:solidFill>
                <a:latin typeface="Trebuchet MS"/>
              </a:rPr>
              <a:t>nettoyage des données</a:t>
            </a:r>
            <a:endParaRPr lang="fr-FR" sz="1600" b="1" i="0" u="none" strike="noStrike" kern="0" cap="none" spc="0" baseline="0" dirty="0">
              <a:solidFill>
                <a:srgbClr val="699841"/>
              </a:solidFill>
              <a:uFillTx/>
              <a:latin typeface="Trebuchet MS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i="0" u="none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3. </a:t>
            </a: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Création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d’une table de correspondance </a:t>
            </a: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d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es noms de pays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i="0" u="none" strike="noStrike" kern="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4. </a:t>
            </a:r>
            <a:r>
              <a:rPr lang="fr-FR" sz="16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Agrégation des tables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i="0" u="none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5. 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Vérification </a:t>
            </a:r>
            <a:r>
              <a:rPr lang="fr-FR" sz="16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et sélection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des correspondances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i="0" u="none" strike="noStrike" kern="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6.</a:t>
            </a: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Standardisation des données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i="0" u="none" strike="noStrike" kern="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7. </a:t>
            </a:r>
            <a:r>
              <a:rPr lang="fr-FR" sz="1600" b="1" kern="0" dirty="0">
                <a:solidFill>
                  <a:srgbClr val="699841"/>
                </a:solidFill>
                <a:latin typeface="Trebuchet MS"/>
              </a:rPr>
              <a:t>E</a:t>
            </a:r>
            <a:r>
              <a:rPr lang="fr-FR" sz="16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xport des fichiers finaux</a:t>
            </a:r>
            <a:endParaRPr lang="fr-FR" sz="18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F4ED2FFB-15A8-EA8A-B219-796262E931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5" y="6196085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BF92346-DBFE-29AB-63C0-DC6746E5DB60}"/>
              </a:ext>
            </a:extLst>
          </p:cNvPr>
          <p:cNvSpPr txBox="1"/>
          <p:nvPr/>
        </p:nvSpPr>
        <p:spPr>
          <a:xfrm>
            <a:off x="870292" y="1702327"/>
            <a:ext cx="7700665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I. </a:t>
            </a:r>
            <a:r>
              <a:rPr lang="fr-FR" b="1" kern="0" dirty="0">
                <a:solidFill>
                  <a:srgbClr val="699841"/>
                </a:solidFill>
                <a:latin typeface="Trebuchet MS"/>
              </a:rPr>
              <a:t>Détermination du nombre de cluster : </a:t>
            </a:r>
            <a:r>
              <a:rPr lang="fr-FR" b="1" kern="0" dirty="0">
                <a:solidFill>
                  <a:srgbClr val="38633C"/>
                </a:solidFill>
                <a:latin typeface="Trebuchet MS"/>
              </a:rPr>
              <a:t>La méthode du coude</a:t>
            </a:r>
            <a:endParaRPr lang="fr-FR" sz="1800" b="1" i="0" u="none" strike="noStrike" kern="1200" cap="none" spc="0" baseline="0" dirty="0">
              <a:solidFill>
                <a:srgbClr val="38633C"/>
              </a:solidFill>
              <a:uFillTx/>
              <a:latin typeface="Trebuchet MS"/>
            </a:endParaRPr>
          </a:p>
        </p:txBody>
      </p:sp>
      <p:sp>
        <p:nvSpPr>
          <p:cNvPr id="5" name="ZoneTexte 1">
            <a:extLst>
              <a:ext uri="{FF2B5EF4-FFF2-40B4-BE49-F238E27FC236}">
                <a16:creationId xmlns:a16="http://schemas.microsoft.com/office/drawing/2014/main" id="{8CE932A5-BA6B-E045-6E2B-4959B6D265DC}"/>
              </a:ext>
            </a:extLst>
          </p:cNvPr>
          <p:cNvSpPr txBox="1"/>
          <p:nvPr/>
        </p:nvSpPr>
        <p:spPr>
          <a:xfrm>
            <a:off x="914755" y="971880"/>
            <a:ext cx="7930298" cy="4001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i="0" u="none" strike="noStrike" kern="0" cap="none" spc="0" baseline="0" dirty="0">
                <a:solidFill>
                  <a:srgbClr val="699841"/>
                </a:solidFill>
                <a:uFillTx/>
                <a:latin typeface="Trebuchet MS" panose="020B0603020202020204" pitchFamily="34" charset="0"/>
              </a:rPr>
              <a:t>Méthode utilisée</a:t>
            </a:r>
            <a:r>
              <a:rPr lang="fr-FR" sz="2000" b="1" i="0" u="none" strike="noStrike" kern="0" cap="none" spc="0" baseline="0" dirty="0">
                <a:solidFill>
                  <a:srgbClr val="2C5A31"/>
                </a:solidFill>
                <a:uFillTx/>
                <a:latin typeface="Trebuchet MS" panose="020B0603020202020204" pitchFamily="34" charset="0"/>
              </a:rPr>
              <a:t>: Le partitionnement de données (K-MEANS) </a:t>
            </a:r>
            <a:endParaRPr lang="fr-FR" sz="2000" b="1" i="0" u="none" strike="noStrike" kern="1200" cap="none" spc="0" baseline="0" dirty="0">
              <a:solidFill>
                <a:srgbClr val="2C5A31"/>
              </a:solidFill>
              <a:uFillTx/>
              <a:latin typeface="Trebuchet MS" panose="020B0603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B190D44-8A47-77B4-0464-221FFB457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80" y="2306889"/>
            <a:ext cx="7612248" cy="3317621"/>
          </a:xfrm>
          <a:prstGeom prst="rect">
            <a:avLst/>
          </a:prstGeom>
        </p:spPr>
      </p:pic>
      <p:sp>
        <p:nvSpPr>
          <p:cNvPr id="8" name="ZoneTexte 5">
            <a:extLst>
              <a:ext uri="{FF2B5EF4-FFF2-40B4-BE49-F238E27FC236}">
                <a16:creationId xmlns:a16="http://schemas.microsoft.com/office/drawing/2014/main" id="{DCAA6EC6-CE0E-EFB2-FF08-2438D5391696}"/>
              </a:ext>
            </a:extLst>
          </p:cNvPr>
          <p:cNvSpPr txBox="1"/>
          <p:nvPr/>
        </p:nvSpPr>
        <p:spPr>
          <a:xfrm>
            <a:off x="3195835" y="5725630"/>
            <a:ext cx="392626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Nombre de clusters optimal: </a:t>
            </a:r>
            <a:r>
              <a:rPr lang="fr-FR" b="1" kern="0" dirty="0">
                <a:solidFill>
                  <a:srgbClr val="699841"/>
                </a:solidFill>
                <a:latin typeface="Trebuchet MS"/>
              </a:rPr>
              <a:t>6</a:t>
            </a: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sz="18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</a:t>
            </a:r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1CBC24CD-A50C-537F-F67A-B534365A1CB3}"/>
              </a:ext>
            </a:extLst>
          </p:cNvPr>
          <p:cNvSpPr txBox="1"/>
          <p:nvPr/>
        </p:nvSpPr>
        <p:spPr>
          <a:xfrm>
            <a:off x="2499817" y="257984"/>
            <a:ext cx="6194995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b="1" kern="0" dirty="0">
                <a:solidFill>
                  <a:srgbClr val="2C5A31"/>
                </a:solidFill>
                <a:latin typeface="Berlin Sans FB Demi" pitchFamily="34"/>
              </a:rPr>
              <a:t>LE</a:t>
            </a:r>
            <a:r>
              <a:rPr lang="fr-FR" sz="3200" b="1" i="0" u="none" strike="noStrike" kern="0" cap="none" spc="0" baseline="0" dirty="0">
                <a:solidFill>
                  <a:srgbClr val="2C5A31"/>
                </a:solidFill>
                <a:uFillTx/>
                <a:latin typeface="Berlin Sans FB Demi" pitchFamily="34"/>
              </a:rPr>
              <a:t> CLUSTERING DES PAYS</a:t>
            </a:r>
            <a:endParaRPr lang="fr-FR" sz="3200" b="1" i="0" u="none" strike="noStrike" kern="1200" cap="none" spc="0" baseline="0" dirty="0">
              <a:solidFill>
                <a:srgbClr val="2C5A31"/>
              </a:solidFill>
              <a:uFillTx/>
              <a:latin typeface="Berlin Sans FB Demi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880167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B7E0BC16-AE90-8D42-48E3-E81C96E6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824301" y="6231484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ZoneTexte 2">
            <a:extLst>
              <a:ext uri="{FF2B5EF4-FFF2-40B4-BE49-F238E27FC236}">
                <a16:creationId xmlns:a16="http://schemas.microsoft.com/office/drawing/2014/main" id="{84C654AF-C94D-4EBB-B7A7-B4C3FF805AA9}"/>
              </a:ext>
            </a:extLst>
          </p:cNvPr>
          <p:cNvSpPr txBox="1"/>
          <p:nvPr/>
        </p:nvSpPr>
        <p:spPr>
          <a:xfrm>
            <a:off x="211440" y="175325"/>
            <a:ext cx="5612861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II. </a:t>
            </a:r>
            <a:r>
              <a:rPr lang="fr-FR" sz="18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La composition des différents clusters</a:t>
            </a:r>
          </a:p>
        </p:txBody>
      </p:sp>
      <p:sp>
        <p:nvSpPr>
          <p:cNvPr id="8" name="ZoneTexte 5">
            <a:extLst>
              <a:ext uri="{FF2B5EF4-FFF2-40B4-BE49-F238E27FC236}">
                <a16:creationId xmlns:a16="http://schemas.microsoft.com/office/drawing/2014/main" id="{8D6E9445-E8E6-87FA-93D5-8C46ACE03C6D}"/>
              </a:ext>
            </a:extLst>
          </p:cNvPr>
          <p:cNvSpPr txBox="1"/>
          <p:nvPr/>
        </p:nvSpPr>
        <p:spPr>
          <a:xfrm>
            <a:off x="884583" y="4220360"/>
            <a:ext cx="4629353" cy="1708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defTabSz="457200">
              <a:buClr>
                <a:srgbClr val="2C5A31"/>
              </a:buCl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u="sng" kern="0" dirty="0">
                <a:solidFill>
                  <a:srgbClr val="2C5A31"/>
                </a:solidFill>
                <a:latin typeface="Trebuchet MS"/>
              </a:rPr>
              <a:t>Cluster 4:</a:t>
            </a:r>
            <a:r>
              <a:rPr lang="fr-FR" sz="1600" b="1" i="0" u="sng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sz="1600" b="1" i="0" u="none" strike="noStrike" kern="1200" cap="none" spc="0" baseline="0" dirty="0">
                <a:solidFill>
                  <a:srgbClr val="38633C"/>
                </a:solidFill>
                <a:uFillTx/>
                <a:latin typeface="Trebuchet MS"/>
              </a:rPr>
              <a:t>23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pays</a:t>
            </a:r>
          </a:p>
          <a:p>
            <a:pPr defTabSz="457200">
              <a:buClr>
                <a:srgbClr val="2C5A31"/>
              </a:buCl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699841"/>
              </a:solidFill>
              <a:latin typeface="Trebuchet MS"/>
            </a:endParaRP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La plupart des pays d’Europe , l’Australie, La Nouvelle-Zélande, Le Canada et la Corée du sud</a:t>
            </a:r>
            <a:endParaRPr lang="fr-FR" sz="1400" b="1" dirty="0">
              <a:solidFill>
                <a:srgbClr val="2C5A31"/>
              </a:solidFill>
              <a:latin typeface="Trebuchet MS"/>
            </a:endParaRPr>
          </a:p>
          <a:p>
            <a:pPr defTabSz="457200">
              <a:buClr>
                <a:srgbClr val="2C5A31"/>
              </a:buCl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699841"/>
              </a:solidFill>
              <a:latin typeface="Trebuchet MS"/>
            </a:endParaRP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Pays stable politiquement</a:t>
            </a:r>
            <a:endParaRPr lang="fr-FR" sz="1400" b="1" dirty="0">
              <a:solidFill>
                <a:srgbClr val="2C5A31"/>
              </a:solidFill>
              <a:latin typeface="Trebuchet MS"/>
            </a:endParaRPr>
          </a:p>
          <a:p>
            <a:pPr defTabSz="457200">
              <a:buClr>
                <a:srgbClr val="2C5A31"/>
              </a:buCl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699841"/>
              </a:solidFill>
              <a:latin typeface="Trebuchet MS"/>
            </a:endParaRP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Fort % de population urbaine, PBI/Hbt et IDH élevé</a:t>
            </a:r>
            <a:endParaRPr lang="fr-FR" sz="1400" b="1" dirty="0">
              <a:solidFill>
                <a:srgbClr val="2C5A31"/>
              </a:solidFill>
              <a:latin typeface="Trebuchet M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07B66AC-A245-C8BA-1F05-CC0699417696}"/>
              </a:ext>
            </a:extLst>
          </p:cNvPr>
          <p:cNvSpPr txBox="1"/>
          <p:nvPr/>
        </p:nvSpPr>
        <p:spPr>
          <a:xfrm>
            <a:off x="954157" y="600943"/>
            <a:ext cx="848370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u="sng" kern="0" dirty="0">
                <a:solidFill>
                  <a:srgbClr val="2C5A31"/>
                </a:solidFill>
                <a:latin typeface="Trebuchet MS"/>
              </a:rPr>
              <a:t>Cluster 0:</a:t>
            </a:r>
            <a:r>
              <a:rPr lang="fr-FR" sz="1600" b="1" i="0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b="1" i="0" u="none" strike="noStrike" kern="1200" cap="none" spc="0" baseline="0" dirty="0">
                <a:solidFill>
                  <a:srgbClr val="38633C"/>
                </a:solidFill>
                <a:uFillTx/>
                <a:latin typeface="Trebuchet MS"/>
              </a:rPr>
              <a:t>19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pays</a:t>
            </a:r>
            <a:endParaRPr lang="fr-FR" sz="1600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Font typeface="Wingdings" panose="05000000000000000000" pitchFamily="2" charset="2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I</a:t>
            </a:r>
            <a:r>
              <a:rPr lang="fr-FR" sz="14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les du pacifique et des Caraïbes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(population faible et peu urbaine)</a:t>
            </a:r>
          </a:p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69984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Font typeface="Wingdings" panose="05000000000000000000" pitchFamily="2" charset="2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Pays d’Amérique centrale et latine dont Argentine et Brésil </a:t>
            </a:r>
            <a:r>
              <a:rPr lang="fr-FR" sz="1200" b="1" dirty="0">
                <a:solidFill>
                  <a:srgbClr val="2C5A31"/>
                </a:solidFill>
                <a:latin typeface="Trebuchet MS"/>
              </a:rPr>
              <a:t>( pays producteurs de viande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de volailles)</a:t>
            </a:r>
            <a:endParaRPr lang="fr-FR" sz="1400" b="1" i="0" u="none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Font typeface="Wingdings" panose="05000000000000000000" pitchFamily="2" charset="2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Quelques pays Africains et du Moyen Orient Congo , Gabon , Koweït 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(Pays importateurs)</a:t>
            </a:r>
            <a:endParaRPr lang="fr-FR" sz="1400" b="1" i="0" u="none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0B2C1AF-0A72-DC73-227A-0B63A796AC48}"/>
              </a:ext>
            </a:extLst>
          </p:cNvPr>
          <p:cNvSpPr txBox="1"/>
          <p:nvPr/>
        </p:nvSpPr>
        <p:spPr>
          <a:xfrm>
            <a:off x="954157" y="1822031"/>
            <a:ext cx="42418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u="sng" kern="0" dirty="0">
                <a:solidFill>
                  <a:srgbClr val="2C5A31"/>
                </a:solidFill>
                <a:latin typeface="Trebuchet MS"/>
              </a:rPr>
              <a:t>Cluster 1:</a:t>
            </a:r>
            <a:r>
              <a:rPr lang="fr-FR" sz="1600" b="1" i="0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sz="1600" b="1" dirty="0">
                <a:solidFill>
                  <a:srgbClr val="38633C"/>
                </a:solidFill>
                <a:latin typeface="Trebuchet MS"/>
              </a:rPr>
              <a:t>52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pays</a:t>
            </a:r>
            <a:endParaRPr lang="fr-FR" sz="1600" b="1" dirty="0">
              <a:solidFill>
                <a:srgbClr val="699841"/>
              </a:solidFill>
              <a:latin typeface="Trebuchet MS"/>
            </a:endParaRPr>
          </a:p>
          <a:p>
            <a:pPr marR="0" lvl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i="0" u="none" strike="noStrike" kern="0" cap="none" spc="0" baseline="0" dirty="0">
              <a:solidFill>
                <a:srgbClr val="699841"/>
              </a:solidFill>
              <a:uFillTx/>
              <a:latin typeface="Trebuchet MS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Font typeface="Wingdings" panose="05000000000000000000" pitchFamily="2" charset="2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Pas de localisation particulière</a:t>
            </a:r>
          </a:p>
          <a:p>
            <a:pPr marR="0" lvl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kern="0" dirty="0">
              <a:solidFill>
                <a:srgbClr val="699841"/>
              </a:solidFill>
              <a:latin typeface="Trebuchet MS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Font typeface="Wingdings" panose="05000000000000000000" pitchFamily="2" charset="2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Pays moyen sur beaucoup d’indicateurs </a:t>
            </a:r>
          </a:p>
        </p:txBody>
      </p:sp>
      <p:sp>
        <p:nvSpPr>
          <p:cNvPr id="9" name="ZoneTexte 5">
            <a:extLst>
              <a:ext uri="{FF2B5EF4-FFF2-40B4-BE49-F238E27FC236}">
                <a16:creationId xmlns:a16="http://schemas.microsoft.com/office/drawing/2014/main" id="{4B48EE26-76BD-5786-5070-A2183DBEE1C0}"/>
              </a:ext>
            </a:extLst>
          </p:cNvPr>
          <p:cNvSpPr txBox="1"/>
          <p:nvPr/>
        </p:nvSpPr>
        <p:spPr>
          <a:xfrm>
            <a:off x="5832111" y="1817602"/>
            <a:ext cx="3993250" cy="9233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defTabSz="4572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u="sng" kern="0" dirty="0">
                <a:solidFill>
                  <a:srgbClr val="2C5A31"/>
                </a:solidFill>
                <a:latin typeface="Trebuchet MS"/>
              </a:rPr>
              <a:t>Cluster 2:</a:t>
            </a:r>
            <a:r>
              <a:rPr lang="fr-FR" sz="16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sz="1600" b="1" i="0" u="none" strike="noStrike" kern="1200" cap="none" spc="0" baseline="0" dirty="0">
                <a:solidFill>
                  <a:srgbClr val="38633C"/>
                </a:solidFill>
                <a:uFillTx/>
                <a:latin typeface="Trebuchet MS"/>
              </a:rPr>
              <a:t>3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pays</a:t>
            </a:r>
          </a:p>
          <a:p>
            <a:pPr defTabSz="4572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699841"/>
              </a:solidFill>
              <a:latin typeface="Trebuchet MS"/>
            </a:endParaRP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Populations très importantes </a:t>
            </a:r>
            <a:r>
              <a:rPr lang="fr-FR" sz="1200" b="1" dirty="0">
                <a:solidFill>
                  <a:srgbClr val="2C5A31"/>
                </a:solidFill>
                <a:latin typeface="Trebuchet MS"/>
              </a:rPr>
              <a:t>(Inde et Chine)</a:t>
            </a: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699841"/>
              </a:solidFill>
              <a:latin typeface="Trebuchet MS"/>
            </a:endParaRP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Fortes productions </a:t>
            </a:r>
            <a:r>
              <a:rPr lang="fr-FR" sz="1200" b="1" dirty="0">
                <a:solidFill>
                  <a:srgbClr val="699841"/>
                </a:solidFill>
                <a:latin typeface="Trebuchet MS"/>
              </a:rPr>
              <a:t>(</a:t>
            </a:r>
            <a:r>
              <a:rPr lang="fr-FR" sz="1200" b="1" dirty="0">
                <a:solidFill>
                  <a:srgbClr val="2C5A31"/>
                </a:solidFill>
                <a:latin typeface="Trebuchet MS"/>
              </a:rPr>
              <a:t>USA et Chine)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09CF59B-A76D-463A-5FEC-D39EB810E0BC}"/>
              </a:ext>
            </a:extLst>
          </p:cNvPr>
          <p:cNvSpPr txBox="1"/>
          <p:nvPr/>
        </p:nvSpPr>
        <p:spPr>
          <a:xfrm>
            <a:off x="954157" y="2859613"/>
            <a:ext cx="672879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u="sng" kern="0" dirty="0">
                <a:solidFill>
                  <a:srgbClr val="2C5A31"/>
                </a:solidFill>
                <a:latin typeface="Trebuchet MS"/>
              </a:rPr>
              <a:t>Cluster 3:</a:t>
            </a:r>
            <a:r>
              <a:rPr lang="fr-FR" sz="1600" b="1" i="0" u="sng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sz="1600" b="1" dirty="0">
                <a:solidFill>
                  <a:srgbClr val="38633C"/>
                </a:solidFill>
                <a:latin typeface="Trebuchet MS"/>
              </a:rPr>
              <a:t>9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pays</a:t>
            </a:r>
          </a:p>
          <a:p>
            <a:pPr defTabSz="4572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3 pays d’Europe </a:t>
            </a:r>
            <a:r>
              <a:rPr lang="fr-FR" sz="1200" b="1" dirty="0">
                <a:solidFill>
                  <a:srgbClr val="2C5A31"/>
                </a:solidFill>
                <a:latin typeface="Trebuchet MS"/>
              </a:rPr>
              <a:t>(Allemagne, Pays-Bas, Royaume-Uni)</a:t>
            </a:r>
            <a:r>
              <a:rPr lang="fr-FR" sz="1200" b="1" dirty="0">
                <a:solidFill>
                  <a:srgbClr val="699841"/>
                </a:solidFill>
                <a:latin typeface="Trebuchet MS"/>
              </a:rPr>
              <a:t>, </a:t>
            </a: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2 d’Asie </a:t>
            </a:r>
            <a:r>
              <a:rPr lang="fr-FR" sz="1200" b="1" dirty="0">
                <a:solidFill>
                  <a:srgbClr val="2C5A31"/>
                </a:solidFill>
                <a:latin typeface="Trebuchet MS"/>
              </a:rPr>
              <a:t>(Japon, Hong-Kong)</a:t>
            </a:r>
            <a:endParaRPr lang="fr-FR" sz="1400" b="1" dirty="0">
              <a:solidFill>
                <a:srgbClr val="2C5A31"/>
              </a:solidFill>
              <a:latin typeface="Trebuchet MS"/>
            </a:endParaRPr>
          </a:p>
          <a:p>
            <a:pPr defTabSz="457200">
              <a:buClr>
                <a:srgbClr val="2C5A31"/>
              </a:buCl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699841"/>
              </a:solidFill>
              <a:latin typeface="Trebuchet MS"/>
            </a:endParaRP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PIB/hbt élevé et population importante</a:t>
            </a:r>
            <a:endParaRPr lang="fr-FR" sz="1400" b="1" dirty="0">
              <a:solidFill>
                <a:srgbClr val="2C5A31"/>
              </a:solidFill>
              <a:latin typeface="Trebuchet MS"/>
            </a:endParaRPr>
          </a:p>
          <a:p>
            <a:pPr defTabSz="457200">
              <a:buClr>
                <a:srgbClr val="2C5A31"/>
              </a:buCl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699841"/>
              </a:solidFill>
              <a:latin typeface="Trebuchet MS"/>
            </a:endParaRP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Production et/ou importations de viande de volailles fortes</a:t>
            </a:r>
            <a:endParaRPr lang="fr-FR" sz="1400" b="1" dirty="0">
              <a:solidFill>
                <a:srgbClr val="2C5A31"/>
              </a:solidFill>
              <a:latin typeface="Trebuchet MS"/>
            </a:endParaRPr>
          </a:p>
        </p:txBody>
      </p:sp>
      <p:sp>
        <p:nvSpPr>
          <p:cNvPr id="12" name="ZoneTexte 5">
            <a:extLst>
              <a:ext uri="{FF2B5EF4-FFF2-40B4-BE49-F238E27FC236}">
                <a16:creationId xmlns:a16="http://schemas.microsoft.com/office/drawing/2014/main" id="{C18EC411-624F-0EF5-F05E-8B07844772E3}"/>
              </a:ext>
            </a:extLst>
          </p:cNvPr>
          <p:cNvSpPr txBox="1"/>
          <p:nvPr/>
        </p:nvSpPr>
        <p:spPr>
          <a:xfrm>
            <a:off x="5196008" y="4224789"/>
            <a:ext cx="4629353" cy="15081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defTabSz="457200">
              <a:buClr>
                <a:srgbClr val="2C5A31"/>
              </a:buCl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u="sng" kern="0" dirty="0">
                <a:solidFill>
                  <a:srgbClr val="2C5A31"/>
                </a:solidFill>
                <a:latin typeface="Trebuchet MS"/>
              </a:rPr>
              <a:t>Cluster 5:</a:t>
            </a:r>
            <a:r>
              <a:rPr lang="fr-FR" sz="1600" b="1" i="0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sz="1600" b="1" dirty="0">
                <a:solidFill>
                  <a:srgbClr val="38633C"/>
                </a:solidFill>
                <a:latin typeface="Trebuchet MS"/>
              </a:rPr>
              <a:t>5</a:t>
            </a:r>
            <a:r>
              <a:rPr lang="fr-FR" sz="1600" b="1" i="0" u="none" strike="noStrike" kern="1200" cap="none" spc="0" baseline="0" dirty="0">
                <a:solidFill>
                  <a:srgbClr val="38633C"/>
                </a:solidFill>
                <a:uFillTx/>
                <a:latin typeface="Trebuchet MS"/>
              </a:rPr>
              <a:t>3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pays</a:t>
            </a:r>
          </a:p>
          <a:p>
            <a:pPr defTabSz="457200">
              <a:buClr>
                <a:srgbClr val="2C5A31"/>
              </a:buCl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699841"/>
              </a:solidFill>
              <a:latin typeface="Trebuchet MS"/>
            </a:endParaRP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Pas de localisation particulière</a:t>
            </a:r>
            <a:endParaRPr lang="fr-FR" sz="1400" b="1" dirty="0">
              <a:solidFill>
                <a:srgbClr val="2C5A31"/>
              </a:solidFill>
              <a:latin typeface="Trebuchet MS"/>
            </a:endParaRPr>
          </a:p>
          <a:p>
            <a:pPr defTabSz="457200">
              <a:buClr>
                <a:srgbClr val="2C5A31"/>
              </a:buCl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699841"/>
              </a:solidFill>
              <a:latin typeface="Trebuchet MS"/>
            </a:endParaRP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Peu stable politiquement</a:t>
            </a:r>
            <a:endParaRPr lang="fr-FR" sz="1400" b="1" dirty="0">
              <a:solidFill>
                <a:srgbClr val="2C5A31"/>
              </a:solidFill>
              <a:latin typeface="Trebuchet MS"/>
            </a:endParaRPr>
          </a:p>
          <a:p>
            <a:pPr defTabSz="457200">
              <a:buClr>
                <a:srgbClr val="2C5A31"/>
              </a:buCl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699841"/>
              </a:solidFill>
              <a:latin typeface="Trebuchet MS"/>
            </a:endParaRP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IDH et PBI/hbt faible</a:t>
            </a:r>
          </a:p>
          <a:p>
            <a:pPr defTabSz="457200">
              <a:buClr>
                <a:srgbClr val="2C5A31"/>
              </a:buCl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500" b="1" dirty="0">
              <a:solidFill>
                <a:srgbClr val="699841"/>
              </a:solidFill>
              <a:latin typeface="Trebuchet MS"/>
            </a:endParaRPr>
          </a:p>
          <a:p>
            <a:pPr marL="285750" indent="-285750" defTabSz="457200">
              <a:buClr>
                <a:srgbClr val="2C5A31"/>
              </a:buClr>
              <a:buFont typeface="Wingdings" panose="05000000000000000000" pitchFamily="2" charset="2"/>
              <a:buChar char="§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Peu consommateurs de volailles</a:t>
            </a:r>
            <a:endParaRPr lang="fr-FR" sz="1400" b="1" dirty="0">
              <a:solidFill>
                <a:srgbClr val="2C5A31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991683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B7E0BC16-AE90-8D42-48E3-E81C96E6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557199" y="6219124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ZoneTexte 2">
            <a:extLst>
              <a:ext uri="{FF2B5EF4-FFF2-40B4-BE49-F238E27FC236}">
                <a16:creationId xmlns:a16="http://schemas.microsoft.com/office/drawing/2014/main" id="{84C654AF-C94D-4EBB-B7A7-B4C3FF805AA9}"/>
              </a:ext>
            </a:extLst>
          </p:cNvPr>
          <p:cNvSpPr txBox="1"/>
          <p:nvPr/>
        </p:nvSpPr>
        <p:spPr>
          <a:xfrm>
            <a:off x="-1851425" y="210036"/>
            <a:ext cx="951174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III. </a:t>
            </a:r>
            <a:r>
              <a:rPr lang="fr-FR" b="1" dirty="0">
                <a:solidFill>
                  <a:srgbClr val="699841"/>
                </a:solidFill>
                <a:latin typeface="Trebuchet MS"/>
              </a:rPr>
              <a:t>Variabilité des données par cluster</a:t>
            </a:r>
            <a:endParaRPr lang="fr-FR" sz="18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</p:txBody>
      </p:sp>
      <p:sp>
        <p:nvSpPr>
          <p:cNvPr id="23" name="ZoneTexte 2">
            <a:extLst>
              <a:ext uri="{FF2B5EF4-FFF2-40B4-BE49-F238E27FC236}">
                <a16:creationId xmlns:a16="http://schemas.microsoft.com/office/drawing/2014/main" id="{B9224345-69FC-BF89-65C3-48A5BC9C6BDC}"/>
              </a:ext>
            </a:extLst>
          </p:cNvPr>
          <p:cNvSpPr txBox="1"/>
          <p:nvPr/>
        </p:nvSpPr>
        <p:spPr>
          <a:xfrm>
            <a:off x="2839712" y="4887108"/>
            <a:ext cx="4185894" cy="769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solidFill>
                  <a:srgbClr val="2C5A31"/>
                </a:solidFill>
                <a:latin typeface="Trebuchet MS"/>
              </a:rPr>
              <a:t>Clusters pertinents pour l’étude</a:t>
            </a: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: 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solidFill>
                  <a:srgbClr val="699841"/>
                </a:solidFill>
                <a:latin typeface="Trebuchet MS"/>
              </a:rPr>
              <a:t>3 et 4</a:t>
            </a:r>
            <a:endParaRPr lang="fr-FR" sz="18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15336D-9D64-F470-7E08-0ED73D1E1D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9302" b="7111"/>
          <a:stretch/>
        </p:blipFill>
        <p:spPr>
          <a:xfrm>
            <a:off x="785447" y="917496"/>
            <a:ext cx="1978535" cy="169111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A5ABB13-E210-4294-08E7-5AC45FDAC3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133" r="34791" b="7111"/>
          <a:stretch/>
        </p:blipFill>
        <p:spPr>
          <a:xfrm>
            <a:off x="4965483" y="917496"/>
            <a:ext cx="2060124" cy="168515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1DADA46-456C-5BD2-8738-AAF191199E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644" r="1550" b="7111"/>
          <a:stretch/>
        </p:blipFill>
        <p:spPr>
          <a:xfrm>
            <a:off x="2875465" y="917496"/>
            <a:ext cx="1978535" cy="168515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1249275-BF52-B287-1B05-9E19585691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309" r="34283"/>
          <a:stretch/>
        </p:blipFill>
        <p:spPr>
          <a:xfrm>
            <a:off x="799309" y="2602649"/>
            <a:ext cx="1950810" cy="169789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34060A0E-0951-D319-5688-598D30D659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991"/>
          <a:stretch/>
        </p:blipFill>
        <p:spPr>
          <a:xfrm>
            <a:off x="2904449" y="2602649"/>
            <a:ext cx="1950810" cy="1721883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35E9976E-2748-5879-738A-8CB7E159C1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7862"/>
          <a:stretch/>
        </p:blipFill>
        <p:spPr>
          <a:xfrm>
            <a:off x="7137090" y="910717"/>
            <a:ext cx="2060124" cy="1697891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24D5A22C-DE40-987A-CBB8-4FCBCF09C08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702" r="33880"/>
          <a:stretch/>
        </p:blipFill>
        <p:spPr>
          <a:xfrm>
            <a:off x="7135830" y="2649963"/>
            <a:ext cx="2060124" cy="1703907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1BB2E791-B7B8-E368-79C8-69E58F699C7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9262"/>
          <a:stretch/>
        </p:blipFill>
        <p:spPr>
          <a:xfrm>
            <a:off x="785447" y="4384936"/>
            <a:ext cx="1964672" cy="1871572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299058B2-0F51-C900-C247-51C45AB1F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830" y="4464279"/>
            <a:ext cx="2060123" cy="179222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61B6EDD-53A5-0E5E-E5A4-E976596A4A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482" y="2602736"/>
            <a:ext cx="2060124" cy="173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25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F4ED2FFB-15A8-EA8A-B219-796262E931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580604" y="6196085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BF92346-DBFE-29AB-63C0-DC6746E5DB60}"/>
              </a:ext>
            </a:extLst>
          </p:cNvPr>
          <p:cNvSpPr txBox="1"/>
          <p:nvPr/>
        </p:nvSpPr>
        <p:spPr>
          <a:xfrm>
            <a:off x="0" y="1085892"/>
            <a:ext cx="7700665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I. </a:t>
            </a:r>
            <a:r>
              <a:rPr lang="fr-FR" b="1" kern="0" dirty="0">
                <a:solidFill>
                  <a:srgbClr val="699841"/>
                </a:solidFill>
                <a:latin typeface="Trebuchet MS"/>
              </a:rPr>
              <a:t>Détermination du nombre de composantes en ACP</a:t>
            </a:r>
            <a:endParaRPr lang="fr-FR" sz="1800" b="1" i="0" u="none" strike="noStrike" kern="1200" cap="none" spc="0" baseline="0" dirty="0">
              <a:solidFill>
                <a:srgbClr val="38633C"/>
              </a:solidFill>
              <a:uFillTx/>
              <a:latin typeface="Trebuchet MS"/>
            </a:endParaRPr>
          </a:p>
        </p:txBody>
      </p:sp>
      <p:sp>
        <p:nvSpPr>
          <p:cNvPr id="8" name="ZoneTexte 5">
            <a:extLst>
              <a:ext uri="{FF2B5EF4-FFF2-40B4-BE49-F238E27FC236}">
                <a16:creationId xmlns:a16="http://schemas.microsoft.com/office/drawing/2014/main" id="{DCAA6EC6-CE0E-EFB2-FF08-2438D5391696}"/>
              </a:ext>
            </a:extLst>
          </p:cNvPr>
          <p:cNvSpPr txBox="1"/>
          <p:nvPr/>
        </p:nvSpPr>
        <p:spPr>
          <a:xfrm>
            <a:off x="6457295" y="1787511"/>
            <a:ext cx="2885488" cy="800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kern="0" dirty="0">
                <a:solidFill>
                  <a:srgbClr val="2C5A31"/>
                </a:solidFill>
                <a:latin typeface="Trebuchet MS"/>
              </a:rPr>
              <a:t>Composantes</a:t>
            </a:r>
            <a:r>
              <a:rPr lang="fr-FR" sz="1600" b="1" i="0" u="none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 optimales: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7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 (</a:t>
            </a:r>
            <a:r>
              <a:rPr lang="fr-FR" sz="11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plus de 90%  de  variance expliquée)</a:t>
            </a:r>
            <a:r>
              <a:rPr lang="fr-FR" sz="11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sz="11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</a:t>
            </a:r>
            <a:endParaRPr lang="fr-FR" sz="12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9EA861A-1CF9-A990-A660-E1075692EA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0" r="3827"/>
          <a:stretch/>
        </p:blipFill>
        <p:spPr>
          <a:xfrm>
            <a:off x="752232" y="1623229"/>
            <a:ext cx="5466521" cy="4404854"/>
          </a:xfrm>
          <a:prstGeom prst="rect">
            <a:avLst/>
          </a:prstGeom>
        </p:spPr>
      </p:pic>
      <p:sp>
        <p:nvSpPr>
          <p:cNvPr id="9" name="ZoneTexte 5">
            <a:extLst>
              <a:ext uri="{FF2B5EF4-FFF2-40B4-BE49-F238E27FC236}">
                <a16:creationId xmlns:a16="http://schemas.microsoft.com/office/drawing/2014/main" id="{06CE7D92-DEE3-8C4C-FC97-057A44825867}"/>
              </a:ext>
            </a:extLst>
          </p:cNvPr>
          <p:cNvSpPr txBox="1"/>
          <p:nvPr/>
        </p:nvSpPr>
        <p:spPr>
          <a:xfrm>
            <a:off x="6457294" y="3425547"/>
            <a:ext cx="2885489" cy="800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kern="0" dirty="0">
                <a:solidFill>
                  <a:srgbClr val="2C5A31"/>
                </a:solidFill>
                <a:latin typeface="Trebuchet MS"/>
              </a:rPr>
              <a:t>Composantes</a:t>
            </a:r>
            <a:r>
              <a:rPr lang="fr-FR" sz="1600" b="1" i="0" u="none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 retenues: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b="1" kern="0" dirty="0">
                <a:solidFill>
                  <a:srgbClr val="699841"/>
                </a:solidFill>
                <a:latin typeface="Trebuchet MS"/>
              </a:rPr>
              <a:t>3</a:t>
            </a:r>
            <a:endParaRPr lang="fr-FR" b="1" i="0" u="none" strike="noStrike" kern="0" cap="none" spc="0" baseline="0" dirty="0">
              <a:solidFill>
                <a:srgbClr val="699841"/>
              </a:solidFill>
              <a:uFillTx/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 (68%  de variance expliquée)</a:t>
            </a:r>
            <a:r>
              <a:rPr lang="fr-FR" sz="12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 </a:t>
            </a:r>
            <a:r>
              <a:rPr lang="fr-FR" sz="12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</a:t>
            </a:r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2F07E014-C903-CEC9-6FBF-1D00F0B982BC}"/>
              </a:ext>
            </a:extLst>
          </p:cNvPr>
          <p:cNvSpPr txBox="1"/>
          <p:nvPr/>
        </p:nvSpPr>
        <p:spPr>
          <a:xfrm>
            <a:off x="564533" y="141848"/>
            <a:ext cx="9742346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b="1" i="0" u="none" strike="noStrike" kern="0" cap="none" spc="0" baseline="0" dirty="0">
                <a:solidFill>
                  <a:srgbClr val="2C5A31"/>
                </a:solidFill>
                <a:uFillTx/>
                <a:latin typeface="Berlin Sans FB Demi" pitchFamily="34"/>
              </a:rPr>
              <a:t>L’ANALYSE EN COMPOSANTES PRINCIPALES (ACP)</a:t>
            </a:r>
            <a:endParaRPr lang="fr-FR" sz="3200" b="1" i="0" u="none" strike="noStrike" kern="1200" cap="none" spc="0" baseline="0" dirty="0">
              <a:solidFill>
                <a:srgbClr val="2C5A31"/>
              </a:solidFill>
              <a:uFillTx/>
              <a:latin typeface="Berlin Sans FB Demi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61688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F4ED2FFB-15A8-EA8A-B219-796262E931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5" y="6116572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BF92346-DBFE-29AB-63C0-DC6746E5DB60}"/>
              </a:ext>
            </a:extLst>
          </p:cNvPr>
          <p:cNvSpPr txBox="1"/>
          <p:nvPr/>
        </p:nvSpPr>
        <p:spPr>
          <a:xfrm>
            <a:off x="327440" y="316182"/>
            <a:ext cx="9373151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II. </a:t>
            </a:r>
            <a:r>
              <a:rPr lang="fr-FR" sz="18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Visualisation 3D des </a:t>
            </a:r>
            <a:r>
              <a:rPr lang="fr-FR" b="1" kern="0" dirty="0">
                <a:solidFill>
                  <a:srgbClr val="699841"/>
                </a:solidFill>
                <a:latin typeface="Trebuchet MS"/>
              </a:rPr>
              <a:t>pays sur les 3 premières composantes</a:t>
            </a:r>
            <a:endParaRPr lang="fr-FR" sz="1800" b="1" i="0" u="none" strike="noStrike" kern="1200" cap="none" spc="0" baseline="0" dirty="0">
              <a:solidFill>
                <a:srgbClr val="38633C"/>
              </a:solidFill>
              <a:uFillTx/>
              <a:latin typeface="Trebuchet M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FCF8131-F2EC-0CD0-3DC4-F3D9FC2F6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824" y="1474077"/>
            <a:ext cx="1951106" cy="219793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7A1D10D-FC9C-7D1F-F9F5-CA9506ADB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30" y="934278"/>
            <a:ext cx="6735694" cy="470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499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47DA2BF4-126C-98F5-C368-BA683732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5" y="6210571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F26D890-37AB-DCE6-CD85-56061AD711D5}"/>
              </a:ext>
            </a:extLst>
          </p:cNvPr>
          <p:cNvSpPr txBox="1"/>
          <p:nvPr/>
        </p:nvSpPr>
        <p:spPr>
          <a:xfrm>
            <a:off x="152860" y="226730"/>
            <a:ext cx="4770783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III. </a:t>
            </a:r>
            <a:r>
              <a:rPr lang="fr-FR" sz="18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C</a:t>
            </a:r>
            <a:r>
              <a:rPr lang="fr-FR" b="1" kern="0" dirty="0">
                <a:solidFill>
                  <a:srgbClr val="699841"/>
                </a:solidFill>
                <a:latin typeface="Trebuchet MS"/>
              </a:rPr>
              <a:t>ercles des corrélations</a:t>
            </a:r>
            <a:endParaRPr lang="fr-FR" sz="1800" b="1" i="0" u="none" strike="noStrike" kern="1200" cap="none" spc="0" baseline="0" dirty="0">
              <a:solidFill>
                <a:srgbClr val="38633C"/>
              </a:solidFill>
              <a:uFillTx/>
              <a:latin typeface="Trebuchet MS"/>
            </a:endParaRPr>
          </a:p>
        </p:txBody>
      </p:sp>
      <p:sp>
        <p:nvSpPr>
          <p:cNvPr id="15" name="ZoneTexte 2">
            <a:extLst>
              <a:ext uri="{FF2B5EF4-FFF2-40B4-BE49-F238E27FC236}">
                <a16:creationId xmlns:a16="http://schemas.microsoft.com/office/drawing/2014/main" id="{E725E62E-C168-7EBB-2B32-6AFF92A07982}"/>
              </a:ext>
            </a:extLst>
          </p:cNvPr>
          <p:cNvSpPr txBox="1"/>
          <p:nvPr/>
        </p:nvSpPr>
        <p:spPr>
          <a:xfrm>
            <a:off x="5049078" y="3759742"/>
            <a:ext cx="5156359" cy="172354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solidFill>
                  <a:srgbClr val="2C5A31"/>
                </a:solidFill>
                <a:latin typeface="Trebuchet MS"/>
              </a:rPr>
              <a:t>Interprétation des cercles</a:t>
            </a: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: 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800" b="1" i="0" u="none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PC1</a:t>
            </a: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=</a:t>
            </a: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 D</a:t>
            </a: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éveloppement socio-économique</a:t>
            </a:r>
            <a:endParaRPr lang="fr-FR" sz="1600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PC2 =</a:t>
            </a:r>
            <a:r>
              <a:rPr lang="fr-FR" sz="16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</a:t>
            </a: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D</a:t>
            </a:r>
            <a:r>
              <a:rPr lang="fr-FR" sz="14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émographie et capacité productive</a:t>
            </a:r>
            <a:endParaRPr lang="fr-FR" sz="16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PC3 =</a:t>
            </a: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 Croissance et </a:t>
            </a:r>
            <a:r>
              <a:rPr lang="fr-FR" sz="1400" b="1">
                <a:solidFill>
                  <a:srgbClr val="699841"/>
                </a:solidFill>
                <a:latin typeface="Trebuchet MS"/>
              </a:rPr>
              <a:t>dynamisme économique</a:t>
            </a:r>
            <a:endParaRPr lang="fr-FR" sz="16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1633AED-EB1A-2961-6677-8C1666DC9B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96"/>
          <a:stretch/>
        </p:blipFill>
        <p:spPr>
          <a:xfrm>
            <a:off x="5208104" y="701448"/>
            <a:ext cx="3914170" cy="272755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8FFF2DA-DACB-160B-A522-C2E4253D4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73" y="666319"/>
            <a:ext cx="3914170" cy="276268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60A9054-8F8A-0941-A8D8-84034B5CA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73" y="3499257"/>
            <a:ext cx="3914170" cy="27113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47DA2BF4-126C-98F5-C368-BA683732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5" y="6330179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F26D890-37AB-DCE6-CD85-56061AD711D5}"/>
              </a:ext>
            </a:extLst>
          </p:cNvPr>
          <p:cNvSpPr txBox="1"/>
          <p:nvPr/>
        </p:nvSpPr>
        <p:spPr>
          <a:xfrm>
            <a:off x="530547" y="177123"/>
            <a:ext cx="834509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IV. </a:t>
            </a:r>
            <a:r>
              <a:rPr lang="fr-FR" sz="18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P</a:t>
            </a:r>
            <a:r>
              <a:rPr lang="fr-FR" b="1" kern="0" dirty="0">
                <a:solidFill>
                  <a:srgbClr val="699841"/>
                </a:solidFill>
                <a:latin typeface="Trebuchet MS"/>
              </a:rPr>
              <a:t>rojections des individus en fonction des 3 composantes principales </a:t>
            </a:r>
            <a:endParaRPr lang="fr-FR" sz="1800" b="1" i="0" u="none" strike="noStrike" kern="1200" cap="none" spc="0" baseline="0" dirty="0">
              <a:solidFill>
                <a:srgbClr val="38633C"/>
              </a:solidFill>
              <a:uFillTx/>
              <a:latin typeface="Trebuchet MS"/>
            </a:endParaRPr>
          </a:p>
        </p:txBody>
      </p:sp>
      <p:sp>
        <p:nvSpPr>
          <p:cNvPr id="15" name="ZoneTexte 2">
            <a:extLst>
              <a:ext uri="{FF2B5EF4-FFF2-40B4-BE49-F238E27FC236}">
                <a16:creationId xmlns:a16="http://schemas.microsoft.com/office/drawing/2014/main" id="{E725E62E-C168-7EBB-2B32-6AFF92A07982}"/>
              </a:ext>
            </a:extLst>
          </p:cNvPr>
          <p:cNvSpPr txBox="1"/>
          <p:nvPr/>
        </p:nvSpPr>
        <p:spPr>
          <a:xfrm>
            <a:off x="6254727" y="1146495"/>
            <a:ext cx="3322500" cy="15696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Rappel: 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2C5A31"/>
                </a:solidFill>
                <a:latin typeface="Trebuchet MS"/>
              </a:rPr>
              <a:t>PC1</a:t>
            </a: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 </a:t>
            </a:r>
            <a:r>
              <a:rPr lang="fr-FR" sz="1400" b="1" dirty="0">
                <a:solidFill>
                  <a:srgbClr val="2C5A31"/>
                </a:solidFill>
                <a:latin typeface="Trebuchet MS"/>
              </a:rPr>
              <a:t>=</a:t>
            </a: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 </a:t>
            </a:r>
            <a:r>
              <a:rPr lang="fr-FR" sz="1200" b="1" dirty="0">
                <a:solidFill>
                  <a:srgbClr val="699841"/>
                </a:solidFill>
                <a:latin typeface="Trebuchet MS"/>
              </a:rPr>
              <a:t>D</a:t>
            </a:r>
            <a:r>
              <a:rPr lang="fr-FR" sz="1100" b="1" dirty="0">
                <a:solidFill>
                  <a:srgbClr val="699841"/>
                </a:solidFill>
                <a:latin typeface="Trebuchet MS"/>
              </a:rPr>
              <a:t>éveloppement socio-économique</a:t>
            </a:r>
            <a:endParaRPr lang="fr-FR" sz="1400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PC2 =</a:t>
            </a:r>
            <a:r>
              <a:rPr lang="fr-FR" sz="14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 </a:t>
            </a:r>
            <a:r>
              <a:rPr lang="fr-FR" sz="1100" b="1" dirty="0">
                <a:solidFill>
                  <a:srgbClr val="699841"/>
                </a:solidFill>
                <a:latin typeface="Trebuchet MS"/>
              </a:rPr>
              <a:t>D</a:t>
            </a:r>
            <a:r>
              <a:rPr lang="fr-FR" sz="11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émographie et capacité productive</a:t>
            </a:r>
            <a:endParaRPr lang="fr-FR" sz="14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dirty="0">
                <a:solidFill>
                  <a:srgbClr val="2C5A31"/>
                </a:solidFill>
                <a:latin typeface="Trebuchet MS"/>
              </a:rPr>
              <a:t>PC3 =</a:t>
            </a:r>
            <a:r>
              <a:rPr lang="fr-FR" sz="1400" b="1" dirty="0">
                <a:solidFill>
                  <a:srgbClr val="699841"/>
                </a:solidFill>
                <a:latin typeface="Trebuchet MS"/>
              </a:rPr>
              <a:t> </a:t>
            </a:r>
            <a:r>
              <a:rPr lang="fr-FR" sz="1100" b="1" dirty="0">
                <a:solidFill>
                  <a:srgbClr val="699841"/>
                </a:solidFill>
                <a:latin typeface="Trebuchet MS"/>
              </a:rPr>
              <a:t>Croissance et dynamisme économique</a:t>
            </a:r>
            <a:endParaRPr lang="fr-FR" sz="11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1" i="0" u="none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34B0DEB-0D0A-198B-83B3-45FC231AB3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990"/>
          <a:stretch/>
        </p:blipFill>
        <p:spPr>
          <a:xfrm>
            <a:off x="2056826" y="723720"/>
            <a:ext cx="4197901" cy="257607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2F4D00D-FA53-090D-429C-1CE95EC6B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44" y="1446721"/>
            <a:ext cx="1089754" cy="131075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A2651A8-BBAF-9901-6821-4856EBBF59C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990"/>
          <a:stretch/>
        </p:blipFill>
        <p:spPr>
          <a:xfrm>
            <a:off x="530548" y="3710451"/>
            <a:ext cx="4051392" cy="257607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DB9D33F-9441-10E7-8B44-13E25B1E43F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9934"/>
          <a:stretch/>
        </p:blipFill>
        <p:spPr>
          <a:xfrm>
            <a:off x="4840357" y="3685426"/>
            <a:ext cx="4480233" cy="257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1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47DA2BF4-126C-98F5-C368-BA683732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5" y="6330179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F26D890-37AB-DCE6-CD85-56061AD711D5}"/>
              </a:ext>
            </a:extLst>
          </p:cNvPr>
          <p:cNvSpPr txBox="1"/>
          <p:nvPr/>
        </p:nvSpPr>
        <p:spPr>
          <a:xfrm>
            <a:off x="-482050" y="860378"/>
            <a:ext cx="6768549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solidFill>
                  <a:srgbClr val="2C5A31"/>
                </a:solidFill>
                <a:latin typeface="Trebuchet MS"/>
              </a:rPr>
              <a:t>I</a:t>
            </a: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. </a:t>
            </a:r>
            <a:r>
              <a:rPr lang="fr-FR" sz="1800" b="1" i="0" u="none" strike="noStrike" kern="0" cap="none" spc="0" baseline="0" dirty="0">
                <a:solidFill>
                  <a:srgbClr val="699841"/>
                </a:solidFill>
                <a:uFillTx/>
                <a:latin typeface="Trebuchet MS"/>
              </a:rPr>
              <a:t>Sélection des clusters pertinents</a:t>
            </a:r>
            <a:r>
              <a:rPr lang="fr-FR" b="1" kern="0" dirty="0">
                <a:solidFill>
                  <a:srgbClr val="699841"/>
                </a:solidFill>
                <a:latin typeface="Trebuchet MS"/>
              </a:rPr>
              <a:t> </a:t>
            </a:r>
            <a:endParaRPr lang="fr-FR" sz="1800" b="1" i="0" u="none" strike="noStrike" kern="1200" cap="none" spc="0" baseline="0" dirty="0">
              <a:solidFill>
                <a:srgbClr val="38633C"/>
              </a:solidFill>
              <a:uFillTx/>
              <a:latin typeface="Trebuchet MS"/>
            </a:endParaRPr>
          </a:p>
        </p:txBody>
      </p:sp>
      <p:sp>
        <p:nvSpPr>
          <p:cNvPr id="15" name="ZoneTexte 2">
            <a:extLst>
              <a:ext uri="{FF2B5EF4-FFF2-40B4-BE49-F238E27FC236}">
                <a16:creationId xmlns:a16="http://schemas.microsoft.com/office/drawing/2014/main" id="{E725E62E-C168-7EBB-2B32-6AFF92A07982}"/>
              </a:ext>
            </a:extLst>
          </p:cNvPr>
          <p:cNvSpPr txBox="1"/>
          <p:nvPr/>
        </p:nvSpPr>
        <p:spPr>
          <a:xfrm>
            <a:off x="5888934" y="1220981"/>
            <a:ext cx="2425148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Clusters Pertinents : </a:t>
            </a:r>
            <a:r>
              <a:rPr lang="fr-FR" sz="14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3 et 4</a:t>
            </a:r>
            <a:endParaRPr lang="fr-FR" sz="12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</p:txBody>
      </p:sp>
      <p:sp>
        <p:nvSpPr>
          <p:cNvPr id="12" name="ZoneTexte 5">
            <a:extLst>
              <a:ext uri="{FF2B5EF4-FFF2-40B4-BE49-F238E27FC236}">
                <a16:creationId xmlns:a16="http://schemas.microsoft.com/office/drawing/2014/main" id="{DF81F663-7925-812A-5C89-7EB6F5F0E187}"/>
              </a:ext>
            </a:extLst>
          </p:cNvPr>
          <p:cNvSpPr txBox="1"/>
          <p:nvPr/>
        </p:nvSpPr>
        <p:spPr>
          <a:xfrm>
            <a:off x="6384234" y="2406113"/>
            <a:ext cx="2987989" cy="273921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u="sng" dirty="0">
                <a:solidFill>
                  <a:srgbClr val="2C5A31"/>
                </a:solidFill>
                <a:latin typeface="Trebuchet MS"/>
              </a:rPr>
              <a:t>Localisation des 32 pays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u="sng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Europe: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 21</a:t>
            </a:r>
          </a:p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Asie: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 3</a:t>
            </a:r>
          </a:p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Amérique du Nord: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2</a:t>
            </a:r>
          </a:p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69984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Océanie: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2</a:t>
            </a:r>
          </a:p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69984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Moyen-Orient :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3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69984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A31"/>
              </a:buClr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Afrique: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1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AE1C858-3A8D-D2EB-C394-338E4ED7D1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40" r="22375"/>
          <a:stretch/>
        </p:blipFill>
        <p:spPr>
          <a:xfrm>
            <a:off x="675861" y="2406113"/>
            <a:ext cx="2991678" cy="256707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55D3DFD-BDF0-273D-382E-32E93AB3F4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331" r="37757"/>
          <a:stretch/>
        </p:blipFill>
        <p:spPr>
          <a:xfrm>
            <a:off x="4087150" y="2406113"/>
            <a:ext cx="1409189" cy="3864431"/>
          </a:xfrm>
          <a:prstGeom prst="rect">
            <a:avLst/>
          </a:prstGeom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81D45E79-476B-12BA-B49D-988A25505447}"/>
              </a:ext>
            </a:extLst>
          </p:cNvPr>
          <p:cNvSpPr txBox="1"/>
          <p:nvPr/>
        </p:nvSpPr>
        <p:spPr>
          <a:xfrm>
            <a:off x="1468994" y="158161"/>
            <a:ext cx="7406650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b="1" kern="0" dirty="0">
                <a:solidFill>
                  <a:srgbClr val="2C5A31"/>
                </a:solidFill>
                <a:latin typeface="Berlin Sans FB Demi" pitchFamily="34"/>
              </a:rPr>
              <a:t>DETERMINATION DES PAYS ELIGIBLES</a:t>
            </a:r>
            <a:endParaRPr lang="fr-FR" sz="3200" b="1" i="0" u="none" strike="noStrike" kern="1200" cap="none" spc="0" baseline="0" dirty="0">
              <a:solidFill>
                <a:srgbClr val="2C5A31"/>
              </a:solidFill>
              <a:uFillTx/>
              <a:latin typeface="Berlin Sans FB Demi" pitchFamily="34"/>
            </a:endParaRP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50586048-7212-95DA-31B4-4B991CB5DCA7}"/>
              </a:ext>
            </a:extLst>
          </p:cNvPr>
          <p:cNvSpPr txBox="1"/>
          <p:nvPr/>
        </p:nvSpPr>
        <p:spPr>
          <a:xfrm>
            <a:off x="675861" y="2002830"/>
            <a:ext cx="3091068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Cluster 3 : </a:t>
            </a:r>
            <a:r>
              <a:rPr lang="fr-FR" sz="14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9 pays</a:t>
            </a:r>
            <a:endParaRPr lang="fr-FR" sz="12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15DAE7BD-C9C8-FADE-90CD-0AF99683554D}"/>
              </a:ext>
            </a:extLst>
          </p:cNvPr>
          <p:cNvSpPr txBox="1"/>
          <p:nvPr/>
        </p:nvSpPr>
        <p:spPr>
          <a:xfrm>
            <a:off x="3293166" y="2006803"/>
            <a:ext cx="3091068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Cluster 4 : </a:t>
            </a:r>
            <a:r>
              <a:rPr lang="fr-FR" sz="1400" b="1" i="0" u="none" strike="noStrike" kern="1200" cap="none" spc="0" baseline="0" dirty="0">
                <a:solidFill>
                  <a:srgbClr val="699841"/>
                </a:solidFill>
                <a:uFillTx/>
                <a:latin typeface="Trebuchet MS"/>
              </a:rPr>
              <a:t>23 pays</a:t>
            </a:r>
            <a:endParaRPr lang="fr-FR" sz="12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</p:txBody>
      </p:sp>
      <p:sp>
        <p:nvSpPr>
          <p:cNvPr id="9" name="ZoneTexte 2">
            <a:extLst>
              <a:ext uri="{FF2B5EF4-FFF2-40B4-BE49-F238E27FC236}">
                <a16:creationId xmlns:a16="http://schemas.microsoft.com/office/drawing/2014/main" id="{62E0C761-628A-F723-F615-606B74C50FB4}"/>
              </a:ext>
            </a:extLst>
          </p:cNvPr>
          <p:cNvSpPr txBox="1"/>
          <p:nvPr/>
        </p:nvSpPr>
        <p:spPr>
          <a:xfrm>
            <a:off x="2366596" y="1492755"/>
            <a:ext cx="2425148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Composition des clusters</a:t>
            </a:r>
            <a:endParaRPr lang="fr-FR" sz="1200" b="1" i="0" u="none" strike="noStrike" kern="1200" cap="none" spc="0" baseline="0" dirty="0">
              <a:solidFill>
                <a:srgbClr val="699841"/>
              </a:solidFill>
              <a:uFillTx/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47541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47DA2BF4-126C-98F5-C368-BA683732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5" y="6330179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ZoneTexte 2">
            <a:extLst>
              <a:ext uri="{FF2B5EF4-FFF2-40B4-BE49-F238E27FC236}">
                <a16:creationId xmlns:a16="http://schemas.microsoft.com/office/drawing/2014/main" id="{E725E62E-C168-7EBB-2B32-6AFF92A07982}"/>
              </a:ext>
            </a:extLst>
          </p:cNvPr>
          <p:cNvSpPr txBox="1"/>
          <p:nvPr/>
        </p:nvSpPr>
        <p:spPr>
          <a:xfrm>
            <a:off x="672547" y="4463236"/>
            <a:ext cx="5466522" cy="172354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Les 5 pays important le plus de viande de volailles: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Japon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Mexique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Hong-Kong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Allemagne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Royaume-Uni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8B5D218-CA5B-3D2A-102F-0BC3028B79AF}"/>
              </a:ext>
            </a:extLst>
          </p:cNvPr>
          <p:cNvSpPr txBox="1"/>
          <p:nvPr/>
        </p:nvSpPr>
        <p:spPr>
          <a:xfrm>
            <a:off x="805070" y="828530"/>
            <a:ext cx="6440556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9841"/>
              </a:buClr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u="sng" kern="0" dirty="0">
                <a:solidFill>
                  <a:srgbClr val="2C5A31"/>
                </a:solidFill>
                <a:latin typeface="Trebuchet MS"/>
              </a:rPr>
              <a:t>Les importations de viande de volailles des pays en 2017 </a:t>
            </a:r>
            <a:endParaRPr lang="fr-FR" sz="1800" b="1" i="0" u="sng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CF881AA-5AFA-6D42-0CD8-50EA9287C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69" y="1418059"/>
            <a:ext cx="8736495" cy="295515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137EF34-1446-0608-64A5-7110178871D6}"/>
              </a:ext>
            </a:extLst>
          </p:cNvPr>
          <p:cNvSpPr txBox="1"/>
          <p:nvPr/>
        </p:nvSpPr>
        <p:spPr>
          <a:xfrm>
            <a:off x="672547" y="239002"/>
            <a:ext cx="682487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solidFill>
                  <a:srgbClr val="2C5A31"/>
                </a:solidFill>
                <a:latin typeface="Trebuchet MS"/>
              </a:rPr>
              <a:t>I</a:t>
            </a:r>
            <a:r>
              <a:rPr lang="fr-FR" sz="1800" b="1" i="0" u="none" strike="noStrike" kern="1200" cap="none" spc="0" baseline="0" dirty="0">
                <a:solidFill>
                  <a:srgbClr val="2C5A31"/>
                </a:solidFill>
                <a:uFillTx/>
                <a:latin typeface="Trebuchet MS"/>
              </a:rPr>
              <a:t>I. </a:t>
            </a:r>
            <a:r>
              <a:rPr lang="fr-FR" b="1" kern="0" dirty="0">
                <a:solidFill>
                  <a:srgbClr val="699841"/>
                </a:solidFill>
                <a:latin typeface="Trebuchet MS"/>
              </a:rPr>
              <a:t>Analyse des données des pays potentiellement éligibles </a:t>
            </a:r>
            <a:endParaRPr lang="fr-FR" sz="1800" b="1" i="0" u="none" strike="noStrike" kern="1200" cap="none" spc="0" baseline="0" dirty="0">
              <a:solidFill>
                <a:srgbClr val="38633C"/>
              </a:solidFill>
              <a:uFillTx/>
              <a:latin typeface="Trebuchet MS"/>
            </a:endParaRPr>
          </a:p>
        </p:txBody>
      </p:sp>
      <p:sp>
        <p:nvSpPr>
          <p:cNvPr id="9" name="ZoneTexte 2">
            <a:extLst>
              <a:ext uri="{FF2B5EF4-FFF2-40B4-BE49-F238E27FC236}">
                <a16:creationId xmlns:a16="http://schemas.microsoft.com/office/drawing/2014/main" id="{E32A37CF-B09E-0AB7-5FDF-649A5B0DF85F}"/>
              </a:ext>
            </a:extLst>
          </p:cNvPr>
          <p:cNvSpPr txBox="1"/>
          <p:nvPr/>
        </p:nvSpPr>
        <p:spPr>
          <a:xfrm>
            <a:off x="6390862" y="4463236"/>
            <a:ext cx="2213113" cy="800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Pays Européens:</a:t>
            </a:r>
          </a:p>
          <a:p>
            <a:pPr marL="171450" marR="0" lvl="0" indent="-1714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R="0" lvl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dirty="0">
                <a:solidFill>
                  <a:srgbClr val="699841"/>
                </a:solidFill>
                <a:latin typeface="Trebuchet MS"/>
              </a:rPr>
              <a:t>4</a:t>
            </a:r>
            <a:r>
              <a:rPr lang="fr-FR" sz="2000" b="1" dirty="0">
                <a:solidFill>
                  <a:srgbClr val="2C5A31"/>
                </a:solidFill>
                <a:latin typeface="Trebuchet MS"/>
              </a:rPr>
              <a:t>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dans TOP 10</a:t>
            </a:r>
          </a:p>
        </p:txBody>
      </p:sp>
    </p:spTree>
    <p:extLst>
      <p:ext uri="{BB962C8B-B14F-4D97-AF65-F5344CB8AC3E}">
        <p14:creationId xmlns:p14="http://schemas.microsoft.com/office/powerpoint/2010/main" val="1143040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C7C324EA-5AD6-343F-EABC-51D55BCA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5" y="6196872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5773522-BA16-BFF3-EECF-4AFFAD015AED}"/>
              </a:ext>
            </a:extLst>
          </p:cNvPr>
          <p:cNvSpPr txBox="1"/>
          <p:nvPr/>
        </p:nvSpPr>
        <p:spPr>
          <a:xfrm>
            <a:off x="775252" y="276761"/>
            <a:ext cx="4444058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9841"/>
              </a:buClr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u="sng" kern="0" dirty="0">
                <a:solidFill>
                  <a:srgbClr val="2C5A31"/>
                </a:solidFill>
                <a:latin typeface="Trebuchet MS"/>
              </a:rPr>
              <a:t>La croissance du PIB des pays en 2017 </a:t>
            </a:r>
            <a:endParaRPr lang="fr-FR" sz="1800" b="1" i="0" u="sng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8025BC6-BBDB-CB69-9A29-F832A806A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1" y="854013"/>
            <a:ext cx="8766313" cy="3233540"/>
          </a:xfrm>
          <a:prstGeom prst="rect">
            <a:avLst/>
          </a:prstGeom>
        </p:spPr>
      </p:pic>
      <p:sp>
        <p:nvSpPr>
          <p:cNvPr id="9" name="ZoneTexte 2">
            <a:extLst>
              <a:ext uri="{FF2B5EF4-FFF2-40B4-BE49-F238E27FC236}">
                <a16:creationId xmlns:a16="http://schemas.microsoft.com/office/drawing/2014/main" id="{1B1E8B17-97CE-4B2F-6677-A3C7DF8F72E1}"/>
              </a:ext>
            </a:extLst>
          </p:cNvPr>
          <p:cNvSpPr txBox="1"/>
          <p:nvPr/>
        </p:nvSpPr>
        <p:spPr>
          <a:xfrm>
            <a:off x="363921" y="4280438"/>
            <a:ext cx="5313097" cy="172354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Les 5 pays avec la croissance du PBI la plus forte: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Malte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Irlande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Chypre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Estonie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Slovénie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 </a:t>
            </a:r>
          </a:p>
        </p:txBody>
      </p:sp>
      <p:sp>
        <p:nvSpPr>
          <p:cNvPr id="10" name="ZoneTexte 2">
            <a:extLst>
              <a:ext uri="{FF2B5EF4-FFF2-40B4-BE49-F238E27FC236}">
                <a16:creationId xmlns:a16="http://schemas.microsoft.com/office/drawing/2014/main" id="{12D2E3F5-149E-2407-FD47-F1A96A10B481}"/>
              </a:ext>
            </a:extLst>
          </p:cNvPr>
          <p:cNvSpPr txBox="1"/>
          <p:nvPr/>
        </p:nvSpPr>
        <p:spPr>
          <a:xfrm>
            <a:off x="6096000" y="4280438"/>
            <a:ext cx="2410870" cy="800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Pays Européens: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dirty="0">
                <a:solidFill>
                  <a:srgbClr val="699841"/>
                </a:solidFill>
                <a:latin typeface="Trebuchet MS"/>
              </a:rPr>
              <a:t>7</a:t>
            </a:r>
            <a:r>
              <a:rPr lang="fr-FR" sz="2000" b="1" dirty="0">
                <a:solidFill>
                  <a:srgbClr val="2C5A31"/>
                </a:solidFill>
                <a:latin typeface="Trebuchet MS"/>
              </a:rPr>
              <a:t>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dans TOP 10</a:t>
            </a:r>
          </a:p>
        </p:txBody>
      </p:sp>
    </p:spTree>
    <p:extLst>
      <p:ext uri="{BB962C8B-B14F-4D97-AF65-F5344CB8AC3E}">
        <p14:creationId xmlns:p14="http://schemas.microsoft.com/office/powerpoint/2010/main" val="2083109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C7C324EA-5AD6-343F-EABC-51D55BCA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517483" y="6200460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5773522-BA16-BFF3-EECF-4AFFAD015AED}"/>
              </a:ext>
            </a:extLst>
          </p:cNvPr>
          <p:cNvSpPr txBox="1"/>
          <p:nvPr/>
        </p:nvSpPr>
        <p:spPr>
          <a:xfrm>
            <a:off x="924338" y="226653"/>
            <a:ext cx="4492488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9841"/>
              </a:buClr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u="sng" kern="0" dirty="0">
                <a:solidFill>
                  <a:srgbClr val="2C5A31"/>
                </a:solidFill>
                <a:latin typeface="Trebuchet MS"/>
              </a:rPr>
              <a:t>Le PIB/habitants des pays en 2017  </a:t>
            </a:r>
            <a:endParaRPr lang="fr-FR" sz="1800" b="1" i="0" u="sng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1E47E92-3EC3-1DBA-8D7B-1328B686F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51" y="745436"/>
            <a:ext cx="8726557" cy="3731476"/>
          </a:xfrm>
          <a:prstGeom prst="rect">
            <a:avLst/>
          </a:prstGeom>
        </p:spPr>
      </p:pic>
      <p:sp>
        <p:nvSpPr>
          <p:cNvPr id="9" name="ZoneTexte 2">
            <a:extLst>
              <a:ext uri="{FF2B5EF4-FFF2-40B4-BE49-F238E27FC236}">
                <a16:creationId xmlns:a16="http://schemas.microsoft.com/office/drawing/2014/main" id="{B9230A3D-3069-35D6-2574-30392918C25F}"/>
              </a:ext>
            </a:extLst>
          </p:cNvPr>
          <p:cNvSpPr txBox="1"/>
          <p:nvPr/>
        </p:nvSpPr>
        <p:spPr>
          <a:xfrm>
            <a:off x="775250" y="4476911"/>
            <a:ext cx="4444059" cy="172354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Les 5 pays avec le PBI/hbt le plus élevé: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Luxembourg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Suisse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Norvège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Irlande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Australie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 </a:t>
            </a:r>
          </a:p>
        </p:txBody>
      </p:sp>
      <p:sp>
        <p:nvSpPr>
          <p:cNvPr id="10" name="ZoneTexte 2">
            <a:extLst>
              <a:ext uri="{FF2B5EF4-FFF2-40B4-BE49-F238E27FC236}">
                <a16:creationId xmlns:a16="http://schemas.microsoft.com/office/drawing/2014/main" id="{04BEF87D-3171-C95B-3D38-9D8C2BB12D23}"/>
              </a:ext>
            </a:extLst>
          </p:cNvPr>
          <p:cNvSpPr txBox="1"/>
          <p:nvPr/>
        </p:nvSpPr>
        <p:spPr>
          <a:xfrm>
            <a:off x="5657655" y="4471274"/>
            <a:ext cx="2542128" cy="800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Pays Européens: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dirty="0">
                <a:solidFill>
                  <a:srgbClr val="699841"/>
                </a:solidFill>
                <a:latin typeface="Trebuchet MS"/>
              </a:rPr>
              <a:t>9</a:t>
            </a:r>
            <a:r>
              <a:rPr lang="fr-FR" sz="2000" b="1" dirty="0">
                <a:solidFill>
                  <a:srgbClr val="2C5A31"/>
                </a:solidFill>
                <a:latin typeface="Trebuchet MS"/>
              </a:rPr>
              <a:t>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dans TOP 10</a:t>
            </a:r>
          </a:p>
        </p:txBody>
      </p:sp>
    </p:spTree>
    <p:extLst>
      <p:ext uri="{BB962C8B-B14F-4D97-AF65-F5344CB8AC3E}">
        <p14:creationId xmlns:p14="http://schemas.microsoft.com/office/powerpoint/2010/main" val="1097430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47DA2BF4-126C-98F5-C368-BA683732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4" y="6191031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59C9806-1E5F-79DC-640A-BF89AE43F7A6}"/>
              </a:ext>
            </a:extLst>
          </p:cNvPr>
          <p:cNvSpPr txBox="1"/>
          <p:nvPr/>
        </p:nvSpPr>
        <p:spPr>
          <a:xfrm>
            <a:off x="789528" y="264162"/>
            <a:ext cx="574481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9841"/>
              </a:buClr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sng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Le Taux de population urbaine des pays en 2017</a:t>
            </a:r>
            <a:r>
              <a:rPr lang="fr-FR" b="1" u="sng" kern="0" dirty="0">
                <a:solidFill>
                  <a:srgbClr val="2C5A31"/>
                </a:solidFill>
                <a:latin typeface="Trebuchet MS"/>
              </a:rPr>
              <a:t> </a:t>
            </a:r>
            <a:endParaRPr lang="fr-FR" sz="1800" b="1" i="0" u="sng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57897FE-3F63-E2B8-02BB-B652C95C7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27" y="839016"/>
            <a:ext cx="8801733" cy="3226087"/>
          </a:xfrm>
          <a:prstGeom prst="rect">
            <a:avLst/>
          </a:prstGeom>
        </p:spPr>
      </p:pic>
      <p:sp>
        <p:nvSpPr>
          <p:cNvPr id="11" name="ZoneTexte 2">
            <a:extLst>
              <a:ext uri="{FF2B5EF4-FFF2-40B4-BE49-F238E27FC236}">
                <a16:creationId xmlns:a16="http://schemas.microsoft.com/office/drawing/2014/main" id="{2EA348DD-4652-ED81-DAE9-EF5C9442A344}"/>
              </a:ext>
            </a:extLst>
          </p:cNvPr>
          <p:cNvSpPr txBox="1"/>
          <p:nvPr/>
        </p:nvSpPr>
        <p:spPr>
          <a:xfrm>
            <a:off x="789527" y="4218984"/>
            <a:ext cx="6078411" cy="1708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500" b="1" dirty="0">
                <a:solidFill>
                  <a:srgbClr val="2C5A31"/>
                </a:solidFill>
                <a:latin typeface="Trebuchet MS"/>
              </a:rPr>
              <a:t>Les 5 pays avec le % de population urbaine le plus important: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Hong-Kong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Belgique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Malte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Islande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Israël</a:t>
            </a:r>
            <a:endParaRPr lang="fr-FR" sz="1600" b="1" dirty="0">
              <a:solidFill>
                <a:srgbClr val="2C5A31"/>
              </a:solidFill>
              <a:latin typeface="Trebuchet MS"/>
            </a:endParaRPr>
          </a:p>
        </p:txBody>
      </p:sp>
      <p:sp>
        <p:nvSpPr>
          <p:cNvPr id="12" name="ZoneTexte 2">
            <a:extLst>
              <a:ext uri="{FF2B5EF4-FFF2-40B4-BE49-F238E27FC236}">
                <a16:creationId xmlns:a16="http://schemas.microsoft.com/office/drawing/2014/main" id="{D3E9FDA9-71EA-4313-CAFC-6B1648AF5F38}"/>
              </a:ext>
            </a:extLst>
          </p:cNvPr>
          <p:cNvSpPr txBox="1"/>
          <p:nvPr/>
        </p:nvSpPr>
        <p:spPr>
          <a:xfrm>
            <a:off x="6534344" y="4218984"/>
            <a:ext cx="2470507" cy="800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Pays Européens: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dirty="0">
                <a:solidFill>
                  <a:srgbClr val="699841"/>
                </a:solidFill>
                <a:latin typeface="Trebuchet MS"/>
              </a:rPr>
              <a:t>7</a:t>
            </a:r>
            <a:r>
              <a:rPr lang="fr-FR" sz="2000" b="1" dirty="0">
                <a:solidFill>
                  <a:srgbClr val="2C5A31"/>
                </a:solidFill>
                <a:latin typeface="Trebuchet MS"/>
              </a:rPr>
              <a:t>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dans TOP 10</a:t>
            </a:r>
          </a:p>
        </p:txBody>
      </p:sp>
    </p:spTree>
    <p:extLst>
      <p:ext uri="{BB962C8B-B14F-4D97-AF65-F5344CB8AC3E}">
        <p14:creationId xmlns:p14="http://schemas.microsoft.com/office/powerpoint/2010/main" val="3597655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47DA2BF4-126C-98F5-C368-BA683732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5" y="6122020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07D4EB5-0A17-B56A-118F-AB45E89F5EBF}"/>
              </a:ext>
            </a:extLst>
          </p:cNvPr>
          <p:cNvSpPr txBox="1"/>
          <p:nvPr/>
        </p:nvSpPr>
        <p:spPr>
          <a:xfrm>
            <a:off x="785192" y="236361"/>
            <a:ext cx="6249423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9841"/>
              </a:buClr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sng" strike="noStrike" kern="0" cap="none" spc="0" baseline="0" dirty="0">
                <a:solidFill>
                  <a:srgbClr val="2C5A31"/>
                </a:solidFill>
                <a:uFillTx/>
                <a:latin typeface="Trebuchet MS"/>
              </a:rPr>
              <a:t>L’indice de développement humain des pays en 2017</a:t>
            </a:r>
            <a:r>
              <a:rPr lang="fr-FR" b="1" u="sng" kern="0" dirty="0">
                <a:solidFill>
                  <a:srgbClr val="2C5A31"/>
                </a:solidFill>
                <a:latin typeface="Trebuchet MS"/>
              </a:rPr>
              <a:t> </a:t>
            </a:r>
            <a:endParaRPr lang="fr-FR" sz="1800" b="1" i="0" u="sng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FA3502C-6DD4-34D8-774C-F1D68C073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43" y="825003"/>
            <a:ext cx="8675353" cy="3349432"/>
          </a:xfrm>
          <a:prstGeom prst="rect">
            <a:avLst/>
          </a:prstGeom>
        </p:spPr>
      </p:pic>
      <p:sp>
        <p:nvSpPr>
          <p:cNvPr id="11" name="ZoneTexte 2">
            <a:extLst>
              <a:ext uri="{FF2B5EF4-FFF2-40B4-BE49-F238E27FC236}">
                <a16:creationId xmlns:a16="http://schemas.microsoft.com/office/drawing/2014/main" id="{3DB6192F-3EB9-18BA-12E2-1C8427484393}"/>
              </a:ext>
            </a:extLst>
          </p:cNvPr>
          <p:cNvSpPr txBox="1"/>
          <p:nvPr/>
        </p:nvSpPr>
        <p:spPr>
          <a:xfrm>
            <a:off x="785192" y="4393745"/>
            <a:ext cx="3651365" cy="1708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500" b="1" dirty="0">
                <a:solidFill>
                  <a:srgbClr val="2C5A31"/>
                </a:solidFill>
                <a:latin typeface="Trebuchet MS"/>
              </a:rPr>
              <a:t>Les 5 pays avec l’IDH le plus haut: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Norvège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Islande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Suisse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Danemark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Allemagne</a:t>
            </a:r>
            <a:endParaRPr lang="fr-FR" sz="1600" b="1" dirty="0">
              <a:solidFill>
                <a:srgbClr val="2C5A31"/>
              </a:solidFill>
              <a:latin typeface="Trebuchet MS"/>
            </a:endParaRPr>
          </a:p>
        </p:txBody>
      </p:sp>
      <p:sp>
        <p:nvSpPr>
          <p:cNvPr id="12" name="ZoneTexte 2">
            <a:extLst>
              <a:ext uri="{FF2B5EF4-FFF2-40B4-BE49-F238E27FC236}">
                <a16:creationId xmlns:a16="http://schemas.microsoft.com/office/drawing/2014/main" id="{28D841D0-492E-9332-8826-B067E35EC598}"/>
              </a:ext>
            </a:extLst>
          </p:cNvPr>
          <p:cNvSpPr txBox="1"/>
          <p:nvPr/>
        </p:nvSpPr>
        <p:spPr>
          <a:xfrm>
            <a:off x="5652052" y="4393745"/>
            <a:ext cx="2443129" cy="800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Pays Européens: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dirty="0">
                <a:solidFill>
                  <a:srgbClr val="699841"/>
                </a:solidFill>
                <a:latin typeface="Trebuchet MS"/>
              </a:rPr>
              <a:t>9</a:t>
            </a:r>
            <a:r>
              <a:rPr lang="fr-FR" sz="2000" b="1" dirty="0">
                <a:solidFill>
                  <a:srgbClr val="2C5A31"/>
                </a:solidFill>
                <a:latin typeface="Trebuchet MS"/>
              </a:rPr>
              <a:t>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dans TOP 10</a:t>
            </a:r>
          </a:p>
        </p:txBody>
      </p:sp>
    </p:spTree>
    <p:extLst>
      <p:ext uri="{BB962C8B-B14F-4D97-AF65-F5344CB8AC3E}">
        <p14:creationId xmlns:p14="http://schemas.microsoft.com/office/powerpoint/2010/main" val="711848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C7C324EA-5AD6-343F-EABC-51D55BCA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5" y="6228578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5773522-BA16-BFF3-EECF-4AFFAD015AED}"/>
              </a:ext>
            </a:extLst>
          </p:cNvPr>
          <p:cNvSpPr txBox="1"/>
          <p:nvPr/>
        </p:nvSpPr>
        <p:spPr>
          <a:xfrm>
            <a:off x="716885" y="445677"/>
            <a:ext cx="5534828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9841"/>
              </a:buClr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u="sng" kern="0" dirty="0">
                <a:solidFill>
                  <a:srgbClr val="2C5A31"/>
                </a:solidFill>
                <a:latin typeface="Trebuchet MS"/>
              </a:rPr>
              <a:t>Le score de stabilité politique des pays en 2017 </a:t>
            </a:r>
            <a:endParaRPr lang="fr-FR" sz="1800" b="1" i="0" u="sng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9362393-A7F7-5269-BD92-E9AE2AB8E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5" y="1082371"/>
            <a:ext cx="8675593" cy="3320664"/>
          </a:xfrm>
          <a:prstGeom prst="rect">
            <a:avLst/>
          </a:prstGeom>
        </p:spPr>
      </p:pic>
      <p:sp>
        <p:nvSpPr>
          <p:cNvPr id="12" name="ZoneTexte 2">
            <a:extLst>
              <a:ext uri="{FF2B5EF4-FFF2-40B4-BE49-F238E27FC236}">
                <a16:creationId xmlns:a16="http://schemas.microsoft.com/office/drawing/2014/main" id="{1573DAFF-0999-301C-2361-44717F359579}"/>
              </a:ext>
            </a:extLst>
          </p:cNvPr>
          <p:cNvSpPr txBox="1"/>
          <p:nvPr/>
        </p:nvSpPr>
        <p:spPr>
          <a:xfrm>
            <a:off x="6564162" y="4520418"/>
            <a:ext cx="2470507" cy="800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Pays Européens: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dirty="0">
                <a:solidFill>
                  <a:srgbClr val="699841"/>
                </a:solidFill>
                <a:latin typeface="Trebuchet MS"/>
              </a:rPr>
              <a:t>7</a:t>
            </a:r>
            <a:r>
              <a:rPr lang="fr-FR" sz="2000" b="1" dirty="0">
                <a:solidFill>
                  <a:srgbClr val="2C5A31"/>
                </a:solidFill>
                <a:latin typeface="Trebuchet MS"/>
              </a:rPr>
              <a:t>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dans TOP 10</a:t>
            </a:r>
          </a:p>
        </p:txBody>
      </p:sp>
      <p:sp>
        <p:nvSpPr>
          <p:cNvPr id="13" name="ZoneTexte 2">
            <a:extLst>
              <a:ext uri="{FF2B5EF4-FFF2-40B4-BE49-F238E27FC236}">
                <a16:creationId xmlns:a16="http://schemas.microsoft.com/office/drawing/2014/main" id="{AD780AE3-CDAE-7DE8-1156-F3D8E82D8CBF}"/>
              </a:ext>
            </a:extLst>
          </p:cNvPr>
          <p:cNvSpPr txBox="1"/>
          <p:nvPr/>
        </p:nvSpPr>
        <p:spPr>
          <a:xfrm>
            <a:off x="397115" y="4520418"/>
            <a:ext cx="6174367" cy="1708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500" b="1" dirty="0">
                <a:solidFill>
                  <a:srgbClr val="2C5A31"/>
                </a:solidFill>
                <a:latin typeface="Trebuchet MS"/>
              </a:rPr>
              <a:t>Les 5 pays avec le score de stabilité politique le plus élevé: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Nouvelle-Zélande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Islande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Luxembourg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Suisse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Malte</a:t>
            </a:r>
            <a:endParaRPr lang="fr-FR" sz="1600" b="1" dirty="0">
              <a:solidFill>
                <a:srgbClr val="2C5A31"/>
              </a:solidFill>
              <a:latin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C7C324EA-5AD6-343F-EABC-51D55BCA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467789" y="6169198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5773522-BA16-BFF3-EECF-4AFFAD015AED}"/>
              </a:ext>
            </a:extLst>
          </p:cNvPr>
          <p:cNvSpPr txBox="1"/>
          <p:nvPr/>
        </p:nvSpPr>
        <p:spPr>
          <a:xfrm>
            <a:off x="-754106" y="438992"/>
            <a:ext cx="822833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9841"/>
              </a:buClr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u="sng" kern="0" dirty="0">
                <a:solidFill>
                  <a:srgbClr val="2C5A31"/>
                </a:solidFill>
                <a:latin typeface="Trebuchet MS"/>
              </a:rPr>
              <a:t>Le score de Doing business des pays en 2017 </a:t>
            </a:r>
            <a:endParaRPr lang="fr-FR" sz="1800" b="1" i="0" u="sng" strike="noStrike" kern="1200" cap="none" spc="0" baseline="0" dirty="0">
              <a:solidFill>
                <a:srgbClr val="2C5A31"/>
              </a:solidFill>
              <a:uFillTx/>
              <a:latin typeface="Trebuchet M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02C51B7-D76B-8FB2-7209-408080311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33" y="1031183"/>
            <a:ext cx="8788238" cy="3133313"/>
          </a:xfrm>
          <a:prstGeom prst="rect">
            <a:avLst/>
          </a:prstGeom>
        </p:spPr>
      </p:pic>
      <p:sp>
        <p:nvSpPr>
          <p:cNvPr id="6" name="ZoneTexte 2">
            <a:extLst>
              <a:ext uri="{FF2B5EF4-FFF2-40B4-BE49-F238E27FC236}">
                <a16:creationId xmlns:a16="http://schemas.microsoft.com/office/drawing/2014/main" id="{AC4E5DDF-3D20-481C-5486-9C61DF55BB1E}"/>
              </a:ext>
            </a:extLst>
          </p:cNvPr>
          <p:cNvSpPr txBox="1"/>
          <p:nvPr/>
        </p:nvSpPr>
        <p:spPr>
          <a:xfrm>
            <a:off x="272876" y="4387355"/>
            <a:ext cx="6174367" cy="1708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500" b="1" dirty="0">
                <a:solidFill>
                  <a:srgbClr val="2C5A31"/>
                </a:solidFill>
                <a:latin typeface="Trebuchet MS"/>
              </a:rPr>
              <a:t>Les 5 pays avec le score de Doing business le plus fort: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Nouvelle-Zélande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Hong-Kong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Danemark 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Corée du Sud</a:t>
            </a: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Royaume Uni</a:t>
            </a:r>
            <a:endParaRPr lang="fr-FR" sz="1600" b="1" dirty="0">
              <a:solidFill>
                <a:srgbClr val="2C5A31"/>
              </a:solidFill>
              <a:latin typeface="Trebuchet MS"/>
            </a:endParaRPr>
          </a:p>
        </p:txBody>
      </p:sp>
      <p:sp>
        <p:nvSpPr>
          <p:cNvPr id="8" name="ZoneTexte 2">
            <a:extLst>
              <a:ext uri="{FF2B5EF4-FFF2-40B4-BE49-F238E27FC236}">
                <a16:creationId xmlns:a16="http://schemas.microsoft.com/office/drawing/2014/main" id="{3D081811-1755-6043-2E42-6D5E9DAD43F2}"/>
              </a:ext>
            </a:extLst>
          </p:cNvPr>
          <p:cNvSpPr txBox="1"/>
          <p:nvPr/>
        </p:nvSpPr>
        <p:spPr>
          <a:xfrm>
            <a:off x="6564162" y="4387355"/>
            <a:ext cx="2470507" cy="800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Pays Européens: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dirty="0">
              <a:solidFill>
                <a:srgbClr val="2C5A31"/>
              </a:solidFill>
              <a:latin typeface="Trebuchet MS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dirty="0">
                <a:solidFill>
                  <a:srgbClr val="699841"/>
                </a:solidFill>
                <a:latin typeface="Trebuchet MS"/>
              </a:rPr>
              <a:t>6</a:t>
            </a:r>
            <a:r>
              <a:rPr lang="fr-FR" sz="2000" b="1" dirty="0">
                <a:solidFill>
                  <a:srgbClr val="2C5A31"/>
                </a:solidFill>
                <a:latin typeface="Trebuchet MS"/>
              </a:rPr>
              <a:t>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dans TOP 10</a:t>
            </a:r>
          </a:p>
        </p:txBody>
      </p:sp>
    </p:spTree>
    <p:extLst>
      <p:ext uri="{BB962C8B-B14F-4D97-AF65-F5344CB8AC3E}">
        <p14:creationId xmlns:p14="http://schemas.microsoft.com/office/powerpoint/2010/main" val="1640244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C7C324EA-5AD6-343F-EABC-51D55BCA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5" y="6196872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1">
            <a:extLst>
              <a:ext uri="{FF2B5EF4-FFF2-40B4-BE49-F238E27FC236}">
                <a16:creationId xmlns:a16="http://schemas.microsoft.com/office/drawing/2014/main" id="{4D2FFFC1-0834-55F0-4DCA-F8BB008FF704}"/>
              </a:ext>
            </a:extLst>
          </p:cNvPr>
          <p:cNvSpPr txBox="1"/>
          <p:nvPr/>
        </p:nvSpPr>
        <p:spPr>
          <a:xfrm>
            <a:off x="2250651" y="161509"/>
            <a:ext cx="6814008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i="0" u="none" strike="noStrike" kern="1200" cap="none" spc="0" baseline="0" dirty="0">
                <a:solidFill>
                  <a:srgbClr val="2C5A31"/>
                </a:solidFill>
                <a:uFillTx/>
                <a:latin typeface="Berlin Sans FB Demi" pitchFamily="34"/>
              </a:rPr>
              <a:t>Préconisations Stratégiques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2A017BCC-8F80-37CF-6039-B7359FCE9F05}"/>
              </a:ext>
            </a:extLst>
          </p:cNvPr>
          <p:cNvSpPr txBox="1"/>
          <p:nvPr/>
        </p:nvSpPr>
        <p:spPr>
          <a:xfrm>
            <a:off x="251520" y="1023258"/>
            <a:ext cx="8902420" cy="20621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u="sng" dirty="0">
                <a:solidFill>
                  <a:srgbClr val="2C5A31"/>
                </a:solidFill>
                <a:latin typeface="Trebuchet MS"/>
              </a:rPr>
              <a:t>Marché Principal:</a:t>
            </a:r>
            <a:r>
              <a:rPr lang="fr-FR" b="1" dirty="0">
                <a:solidFill>
                  <a:srgbClr val="2C5A31"/>
                </a:solidFill>
                <a:latin typeface="Trebuchet MS"/>
              </a:rPr>
              <a:t>  </a:t>
            </a:r>
            <a:r>
              <a:rPr lang="fr-FR" b="1" dirty="0">
                <a:solidFill>
                  <a:srgbClr val="699841"/>
                </a:solidFill>
                <a:latin typeface="Trebuchet MS"/>
              </a:rPr>
              <a:t>Europe</a:t>
            </a:r>
            <a:endParaRPr lang="fr-FR" sz="1400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9841"/>
              </a:buClr>
              <a:buFont typeface="Wingdings" panose="05000000000000000000" pitchFamily="2" charset="2"/>
              <a:buChar char="Ø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Pays frontaliers: </a:t>
            </a: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Luxembourg, Suisse, Allemagne, Belgique…</a:t>
            </a:r>
            <a:endParaRPr lang="fr-FR" sz="1200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9841"/>
              </a:buClr>
              <a:buFont typeface="Wingdings" panose="05000000000000000000" pitchFamily="2" charset="2"/>
              <a:buChar char="Ø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Europe du Nord: </a:t>
            </a: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Norvège, Islande, Danemark, Irlande, Royaume-Uni, Suède…</a:t>
            </a:r>
            <a:endParaRPr lang="fr-FR" sz="1200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9841"/>
              </a:buClr>
              <a:buFont typeface="Wingdings" panose="05000000000000000000" pitchFamily="2" charset="2"/>
              <a:buChar char="Ø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Autres pays Européens: </a:t>
            </a:r>
            <a:r>
              <a:rPr lang="fr-FR" b="1" dirty="0">
                <a:solidFill>
                  <a:srgbClr val="699841"/>
                </a:solidFill>
                <a:latin typeface="Trebuchet MS"/>
              </a:rPr>
              <a:t> </a:t>
            </a: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Portugal, Malte, Autriche, Tchéquie…   </a:t>
            </a:r>
            <a:endParaRPr lang="fr-FR" sz="1400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1" dirty="0">
              <a:solidFill>
                <a:srgbClr val="2C5A31"/>
              </a:solidFill>
              <a:latin typeface="Trebuchet MS"/>
            </a:endParaRP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96CD33F2-F117-6697-05E7-747754B146DA}"/>
              </a:ext>
            </a:extLst>
          </p:cNvPr>
          <p:cNvSpPr txBox="1"/>
          <p:nvPr/>
        </p:nvSpPr>
        <p:spPr>
          <a:xfrm>
            <a:off x="-198783" y="3085361"/>
            <a:ext cx="5603863" cy="10772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u="sng" dirty="0">
                <a:solidFill>
                  <a:srgbClr val="2C5A31"/>
                </a:solidFill>
                <a:latin typeface="Trebuchet MS"/>
              </a:rPr>
              <a:t>Marché secondaire:</a:t>
            </a:r>
            <a:r>
              <a:rPr lang="fr-FR" b="1" dirty="0">
                <a:solidFill>
                  <a:srgbClr val="2C5A31"/>
                </a:solidFill>
                <a:latin typeface="Trebuchet MS"/>
              </a:rPr>
              <a:t>  </a:t>
            </a:r>
            <a:r>
              <a:rPr lang="fr-FR" b="1" dirty="0">
                <a:solidFill>
                  <a:srgbClr val="699841"/>
                </a:solidFill>
                <a:latin typeface="Trebuchet MS"/>
              </a:rPr>
              <a:t>Asie</a:t>
            </a:r>
            <a:endParaRPr lang="fr-FR" sz="1400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Hong-Kong, Japon, Corée du Sud  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1" dirty="0">
              <a:solidFill>
                <a:srgbClr val="2C5A31"/>
              </a:solidFill>
              <a:latin typeface="Trebuchet MS"/>
            </a:endParaRPr>
          </a:p>
        </p:txBody>
      </p:sp>
      <p:sp>
        <p:nvSpPr>
          <p:cNvPr id="7" name="ZoneTexte 2">
            <a:extLst>
              <a:ext uri="{FF2B5EF4-FFF2-40B4-BE49-F238E27FC236}">
                <a16:creationId xmlns:a16="http://schemas.microsoft.com/office/drawing/2014/main" id="{D27CD4C6-C7F5-3413-D268-5BDFA2E0036E}"/>
              </a:ext>
            </a:extLst>
          </p:cNvPr>
          <p:cNvSpPr txBox="1"/>
          <p:nvPr/>
        </p:nvSpPr>
        <p:spPr>
          <a:xfrm>
            <a:off x="-198783" y="4324524"/>
            <a:ext cx="5603863" cy="1046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u="sng" dirty="0">
                <a:solidFill>
                  <a:srgbClr val="2C5A31"/>
                </a:solidFill>
                <a:latin typeface="Trebuchet MS"/>
              </a:rPr>
              <a:t>Marché complémentaire:</a:t>
            </a:r>
            <a:r>
              <a:rPr lang="fr-FR" b="1" dirty="0">
                <a:solidFill>
                  <a:srgbClr val="2C5A31"/>
                </a:solidFill>
                <a:latin typeface="Trebuchet MS"/>
              </a:rPr>
              <a:t>  </a:t>
            </a:r>
            <a:r>
              <a:rPr lang="fr-FR" b="1" dirty="0">
                <a:solidFill>
                  <a:srgbClr val="699841"/>
                </a:solidFill>
                <a:latin typeface="Trebuchet MS"/>
              </a:rPr>
              <a:t>Océanie</a:t>
            </a:r>
            <a:endParaRPr lang="fr-FR" sz="1400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Australie, Nouvelle-Zélande 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1" dirty="0">
              <a:solidFill>
                <a:srgbClr val="2C5A31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552243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C7C324EA-5AD6-343F-EABC-51D55BCA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5657655" y="6176994"/>
            <a:ext cx="876690" cy="499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1">
            <a:extLst>
              <a:ext uri="{FF2B5EF4-FFF2-40B4-BE49-F238E27FC236}">
                <a16:creationId xmlns:a16="http://schemas.microsoft.com/office/drawing/2014/main" id="{4D2FFFC1-0834-55F0-4DCA-F8BB008FF704}"/>
              </a:ext>
            </a:extLst>
          </p:cNvPr>
          <p:cNvSpPr txBox="1"/>
          <p:nvPr/>
        </p:nvSpPr>
        <p:spPr>
          <a:xfrm>
            <a:off x="2250651" y="317372"/>
            <a:ext cx="6814008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dirty="0">
                <a:solidFill>
                  <a:srgbClr val="2C5A31"/>
                </a:solidFill>
                <a:latin typeface="Berlin Sans FB Demi" pitchFamily="34"/>
              </a:rPr>
              <a:t>Conclusion</a:t>
            </a:r>
            <a:endParaRPr lang="fr-FR" sz="2800" b="1" i="0" u="none" strike="noStrike" kern="1200" cap="none" spc="0" baseline="0" dirty="0">
              <a:solidFill>
                <a:srgbClr val="2C5A31"/>
              </a:solidFill>
              <a:uFillTx/>
              <a:latin typeface="Berlin Sans FB Demi" pitchFamily="34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2A017BCC-8F80-37CF-6039-B7359FCE9F05}"/>
              </a:ext>
            </a:extLst>
          </p:cNvPr>
          <p:cNvSpPr txBox="1"/>
          <p:nvPr/>
        </p:nvSpPr>
        <p:spPr>
          <a:xfrm>
            <a:off x="685800" y="1200101"/>
            <a:ext cx="8865704" cy="35702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Cette étude démontre que le développement à l’international est réaliste et pertinent à condition d’adopter une stratégie structurée et progressive.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dirty="0">
              <a:solidFill>
                <a:srgbClr val="2C5A3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L’entreprise devra privilégier </a:t>
            </a: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le marché Européen </a:t>
            </a: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pour son développement international avant d’envisager une expansion vers d’autres zones du monde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dirty="0">
              <a:solidFill>
                <a:srgbClr val="2C5A3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699841"/>
                </a:solidFill>
                <a:latin typeface="Trebuchet MS"/>
              </a:rPr>
              <a:t>Cette démarche permettra:</a:t>
            </a: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Limiter les risques</a:t>
            </a:r>
            <a:endParaRPr lang="fr-FR" sz="1600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Optimiser les investissements</a:t>
            </a:r>
            <a:endParaRPr lang="fr-FR" b="1" dirty="0">
              <a:solidFill>
                <a:srgbClr val="699841"/>
              </a:solidFill>
              <a:latin typeface="Trebuchet MS"/>
            </a:endParaRPr>
          </a:p>
          <a:p>
            <a:pPr marL="0" marR="0" lvl="0" indent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600" b="1" dirty="0">
              <a:solidFill>
                <a:srgbClr val="2C5A31"/>
              </a:solidFill>
              <a:latin typeface="Trebuchet MS"/>
            </a:endParaRPr>
          </a:p>
          <a:p>
            <a:pPr marL="285750" marR="0" lvl="0" indent="-28575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dirty="0">
                <a:solidFill>
                  <a:srgbClr val="2C5A31"/>
                </a:solidFill>
                <a:latin typeface="Trebuchet MS"/>
              </a:rPr>
              <a:t>Valoriser la position de l’entreprise sur des produits bio de qualité.</a:t>
            </a:r>
            <a:endParaRPr lang="fr-FR" b="1" dirty="0">
              <a:solidFill>
                <a:srgbClr val="699841"/>
              </a:solidFill>
              <a:latin typeface="Trebuchet MS"/>
            </a:endParaRPr>
          </a:p>
          <a:p>
            <a:pPr marR="0" lvl="0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b="1" dirty="0">
              <a:solidFill>
                <a:srgbClr val="699841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323998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4">
            <a:extLst>
              <a:ext uri="{FF2B5EF4-FFF2-40B4-BE49-F238E27FC236}">
                <a16:creationId xmlns:a16="http://schemas.microsoft.com/office/drawing/2014/main" id="{BCB87CA2-932D-140D-F0A5-CA4EF8AB4A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93" t="27852" r="17789" b="30448"/>
          <a:stretch>
            <a:fillRect/>
          </a:stretch>
        </p:blipFill>
        <p:spPr>
          <a:xfrm>
            <a:off x="4774829" y="1143002"/>
            <a:ext cx="2642341" cy="150585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5">
            <a:extLst>
              <a:ext uri="{FF2B5EF4-FFF2-40B4-BE49-F238E27FC236}">
                <a16:creationId xmlns:a16="http://schemas.microsoft.com/office/drawing/2014/main" id="{53812413-C2CA-784D-DD24-57BF74C9A3B2}"/>
              </a:ext>
            </a:extLst>
          </p:cNvPr>
          <p:cNvSpPr txBox="1"/>
          <p:nvPr/>
        </p:nvSpPr>
        <p:spPr>
          <a:xfrm>
            <a:off x="3769243" y="3523265"/>
            <a:ext cx="4653511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b="1" kern="0" dirty="0">
                <a:solidFill>
                  <a:srgbClr val="2C5A31"/>
                </a:solidFill>
                <a:latin typeface="Berlin Sans FB Demi" pitchFamily="34"/>
              </a:rPr>
              <a:t>Merci de votre attention</a:t>
            </a:r>
            <a:endParaRPr lang="fr-FR" sz="3200" b="1" i="0" u="none" strike="noStrike" kern="1200" cap="none" spc="0" baseline="0" dirty="0">
              <a:solidFill>
                <a:srgbClr val="2C5A31"/>
              </a:solidFill>
              <a:uFillTx/>
              <a:latin typeface="Berlin Sans FB Demi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7511062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2174</TotalTime>
  <Words>1281</Words>
  <Application>Microsoft Office PowerPoint</Application>
  <PresentationFormat>Grand écran</PresentationFormat>
  <Paragraphs>299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2" baseType="lpstr">
      <vt:lpstr>Arial</vt:lpstr>
      <vt:lpstr>Berlin Sans FB Demi</vt:lpstr>
      <vt:lpstr>Calibri</vt:lpstr>
      <vt:lpstr>Trebuchet MS</vt:lpstr>
      <vt:lpstr>Wingdings</vt:lpstr>
      <vt:lpstr>Wingdings 3</vt:lpstr>
      <vt:lpstr>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Remy Maupetit</dc:creator>
  <cp:lastModifiedBy>Remy Maupetit</cp:lastModifiedBy>
  <cp:revision>92</cp:revision>
  <dcterms:created xsi:type="dcterms:W3CDTF">2025-12-17T13:57:45Z</dcterms:created>
  <dcterms:modified xsi:type="dcterms:W3CDTF">2026-01-12T07:19:46Z</dcterms:modified>
</cp:coreProperties>
</file>