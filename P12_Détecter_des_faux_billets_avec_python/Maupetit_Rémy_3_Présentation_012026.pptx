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5" r:id="rId8"/>
    <p:sldId id="264" r:id="rId9"/>
    <p:sldId id="266" r:id="rId10"/>
    <p:sldId id="280" r:id="rId11"/>
    <p:sldId id="267" r:id="rId12"/>
    <p:sldId id="276" r:id="rId13"/>
    <p:sldId id="268" r:id="rId14"/>
    <p:sldId id="278" r:id="rId15"/>
    <p:sldId id="284" r:id="rId16"/>
    <p:sldId id="269" r:id="rId17"/>
    <p:sldId id="279" r:id="rId18"/>
    <p:sldId id="271" r:id="rId19"/>
    <p:sldId id="282" r:id="rId20"/>
    <p:sldId id="281" r:id="rId21"/>
    <p:sldId id="283" r:id="rId22"/>
    <p:sldId id="275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8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165" autoAdjust="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66778-D412-65F0-5749-EE5981BBA3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EFF24EC-162C-26E3-10B5-D304DC294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17AE95-FF1D-2C57-985A-84379D203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6E49-0C4D-4A25-AC64-3718EECC1151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3D0224-3E14-0C73-AD50-38E315437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DF8A16-9DA1-0AE8-80C7-4C207DC0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E36B-8410-4969-8B20-81DA8245A4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7882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CADA03-C874-92A2-68C7-FF58B88AE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7ED285-7C97-44D2-E5BB-B555D6051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F2210D-D9B1-E133-65A5-51CBB86F2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6E49-0C4D-4A25-AC64-3718EECC1151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997EF7-DA4E-27C8-E3BC-AD3BF5B88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68C34E-C9CD-34B1-D2B9-BD2BEE97F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E36B-8410-4969-8B20-81DA8245A4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75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66A706-D64C-D8A1-E617-7996455B1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2BB7973-83CE-67E4-32E1-135334C71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759CDA-C671-6960-8FEC-D18691D6B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6E49-0C4D-4A25-AC64-3718EECC1151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E2F8E7-EF65-37AB-59D3-E16BE9254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B82A9D2-5C89-041F-62EF-0170F6948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E36B-8410-4969-8B20-81DA8245A4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3819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D395FA-4A25-437B-214F-482987A63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66299C-C41B-D001-6E11-5A6B46CFE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E22FE6-6D21-55F3-1E45-07C9B9C257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D725B61-2BA7-9C1E-6570-168C2A83E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6E49-0C4D-4A25-AC64-3718EECC1151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717AE4F-7D32-315D-A63E-CB8D0640A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3AF4F1-1A47-E4F1-3521-FFB538B0E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E36B-8410-4969-8B20-81DA8245A4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5785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718E91-D5B9-F797-44F4-A51019EE1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F0731C6-17C7-7454-F33A-45F66F77E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7F978E2-97B8-016C-9192-F3C67B171B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7479B52-97F6-4C0F-B906-C69B2DBE1B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62D4F5C-B891-7C1B-1282-FB6F9336D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5955CDA-AC1B-6944-ABEC-723C76009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6E49-0C4D-4A25-AC64-3718EECC1151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B83293D-45CA-49DD-C1CC-95597D22A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7086EB0-5A49-4D25-E603-6EBF16AAA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E36B-8410-4969-8B20-81DA8245A4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7149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BAF3D1-4F8D-2FE4-6F7D-705393956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56AC4A7-5070-0FFC-149E-0969849FC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6E49-0C4D-4A25-AC64-3718EECC1151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B6A2B3D-8D76-8BD6-9BDB-F5FDE81AC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BDDFB82-C36C-6497-72C8-2D3B1DAF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E36B-8410-4969-8B20-81DA8245A4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249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72C89F4-5260-5C70-F21F-E46645F30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6E49-0C4D-4A25-AC64-3718EECC1151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E01753B-D5CC-1C08-44D6-AE5F7D11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FB8018A-76F5-72E7-B8C0-B7DA62FB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E36B-8410-4969-8B20-81DA8245A4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594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B5745C-0537-4A88-4FDC-75032A921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CD3F7B-5EB6-4FE9-2623-EF5721C2DD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6803C7-43D0-9F60-17AC-506E3CA48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3B1E8D2-6620-510A-B18F-B66EEF8C0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6E49-0C4D-4A25-AC64-3718EECC1151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A0A267-8B7C-DF10-4695-7C6053F9B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1462792-97C4-E5F1-960E-3427B47D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E36B-8410-4969-8B20-81DA8245A4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402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BAD8FB-A0F2-04D9-3F25-A1B982D58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C8118B5-55FF-FF52-6C1E-0602DC8DD8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57D2496-DFC2-6FC7-32BB-5316551A1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A7A413-70DB-2CD1-6320-25962E8E3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6E49-0C4D-4A25-AC64-3718EECC1151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F71DCB7-C103-275A-7EE0-00DE24B7C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BF416DB-CB2C-82A5-4F59-ECAFFC254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E36B-8410-4969-8B20-81DA8245A4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5888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6911E0-3A58-3A37-F970-751DDAB4E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FC20A37-1828-EF42-376D-3C0D69978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C452D5B-783C-4B63-D0C6-BBE3957E2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6E49-0C4D-4A25-AC64-3718EECC1151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4CF682-005A-9E1B-96BA-52B6639A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5A557F-FCC7-78AF-AB8E-F9087C9D5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E36B-8410-4969-8B20-81DA8245A4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311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71B838A-1B5B-8FF8-16DD-4F7E775D4F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1491C21-0FEA-D726-6267-E01320D22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A81A1FA-0F5C-8813-9262-8F8BE64DD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6E49-0C4D-4A25-AC64-3718EECC1151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82CBC96-3FBF-C49F-8A45-1BA81B9FC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BD2D73-F270-DE57-439C-21CDF6301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E36B-8410-4969-8B20-81DA8245A4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7882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E961BDB-14BB-BB3A-5FAA-29796379B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B0BBA79-906F-C4D0-33AE-56FCFB68C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6728A3-1CE2-686D-5BC5-6FCCE7455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466E49-0C4D-4A25-AC64-3718EECC1151}" type="datetimeFigureOut">
              <a:rPr lang="fr-FR" smtClean="0"/>
              <a:t>10/02/2026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B609A1-5EA2-6BA7-1AAF-63BD4B6369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6D09E5-58E3-E67F-3C0B-88B36B1B64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4E36B-8410-4969-8B20-81DA8245A47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9169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jp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6BA73D0-877E-13A1-F403-06F37F3707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3" t="36711" r="19456" b="37981"/>
          <a:stretch/>
        </p:blipFill>
        <p:spPr>
          <a:xfrm>
            <a:off x="4398523" y="263862"/>
            <a:ext cx="3394953" cy="88241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5B22ED6-8021-6672-B091-753B16E65D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931" y="2826027"/>
            <a:ext cx="7705702" cy="370944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89401C6-4AF3-4812-FFD5-38C1CFABF5D3}"/>
              </a:ext>
            </a:extLst>
          </p:cNvPr>
          <p:cNvSpPr txBox="1"/>
          <p:nvPr/>
        </p:nvSpPr>
        <p:spPr>
          <a:xfrm>
            <a:off x="750649" y="2094238"/>
            <a:ext cx="106906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Création d’un algorithme de détection automatique de faux billets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D2C6778-4D9D-50DA-FF63-8C3E6F767389}"/>
              </a:ext>
            </a:extLst>
          </p:cNvPr>
          <p:cNvSpPr txBox="1"/>
          <p:nvPr/>
        </p:nvSpPr>
        <p:spPr>
          <a:xfrm>
            <a:off x="3766224" y="1293285"/>
            <a:ext cx="4659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Organisation nationale de lutte contre le faux-monnayage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0ABF969-DE8E-2888-0546-15E90D8042A3}"/>
              </a:ext>
            </a:extLst>
          </p:cNvPr>
          <p:cNvSpPr txBox="1"/>
          <p:nvPr/>
        </p:nvSpPr>
        <p:spPr>
          <a:xfrm>
            <a:off x="10521160" y="5889142"/>
            <a:ext cx="1200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Rémy Maupetit</a:t>
            </a:r>
          </a:p>
          <a:p>
            <a:r>
              <a:rPr lang="fr-FR" sz="12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Data </a:t>
            </a:r>
            <a:r>
              <a:rPr lang="fr-FR" sz="1200" b="1" dirty="0" err="1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Analyst</a:t>
            </a:r>
            <a:endParaRPr lang="fr-FR" sz="12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r>
              <a:rPr lang="fr-FR" sz="12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Janvier 2026</a:t>
            </a:r>
          </a:p>
        </p:txBody>
      </p:sp>
    </p:spTree>
    <p:extLst>
      <p:ext uri="{BB962C8B-B14F-4D97-AF65-F5344CB8AC3E}">
        <p14:creationId xmlns:p14="http://schemas.microsoft.com/office/powerpoint/2010/main" val="531924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E89401C6-4AF3-4812-FFD5-38C1CFABF5D3}"/>
              </a:ext>
            </a:extLst>
          </p:cNvPr>
          <p:cNvSpPr txBox="1"/>
          <p:nvPr/>
        </p:nvSpPr>
        <p:spPr>
          <a:xfrm>
            <a:off x="4957499" y="154233"/>
            <a:ext cx="2619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Sommaire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5B28D5C6-54A0-5F3E-AFE9-10F1F6A7A471}"/>
              </a:ext>
            </a:extLst>
          </p:cNvPr>
          <p:cNvSpPr txBox="1"/>
          <p:nvPr/>
        </p:nvSpPr>
        <p:spPr>
          <a:xfrm>
            <a:off x="2911171" y="689788"/>
            <a:ext cx="6369657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 Contexte du projet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Slide 3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Objectif et source  du  projet 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Slide 4</a:t>
            </a:r>
            <a:endParaRPr lang="fr-FR" sz="2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Analyse exploratoire des données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Slides 5 et 6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Prétraitement des données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Slide 7</a:t>
            </a:r>
            <a:endParaRPr lang="fr-FR" sz="2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Modélisation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Slide 8</a:t>
            </a:r>
            <a:endParaRPr lang="fr-FR" sz="2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Régression logistique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Slides 9 et 10</a:t>
            </a:r>
            <a:endParaRPr lang="fr-FR" sz="2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KNN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Slides 11 et 12</a:t>
            </a:r>
            <a:endParaRPr lang="fr-FR" sz="2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Random Forest Classifier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Slides 13, 14 et 15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K-</a:t>
            </a:r>
            <a:r>
              <a:rPr lang="fr-FR" sz="2000" b="1" dirty="0" err="1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means</a:t>
            </a: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Slides 16 et 17</a:t>
            </a:r>
            <a:endParaRPr lang="fr-FR" sz="2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Sélection du modèle le plus adapté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Slides 18 et 19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L’application fonctionnelle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Slide 20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Conclusion</a:t>
            </a:r>
            <a:r>
              <a:rPr lang="fr-FR" sz="20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Slide 21</a:t>
            </a:r>
            <a:endParaRPr lang="fr-FR" sz="2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491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E89401C6-4AF3-4812-FFD5-38C1CFABF5D3}"/>
              </a:ext>
            </a:extLst>
          </p:cNvPr>
          <p:cNvSpPr txBox="1"/>
          <p:nvPr/>
        </p:nvSpPr>
        <p:spPr>
          <a:xfrm>
            <a:off x="4098971" y="375060"/>
            <a:ext cx="34448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Contexte du projet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24D0492-8F60-C5EC-0D85-623E14F6E59A}"/>
              </a:ext>
            </a:extLst>
          </p:cNvPr>
          <p:cNvSpPr txBox="1"/>
          <p:nvPr/>
        </p:nvSpPr>
        <p:spPr>
          <a:xfrm>
            <a:off x="255633" y="1576795"/>
            <a:ext cx="37854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Qui?</a:t>
            </a:r>
          </a:p>
          <a:p>
            <a:pPr algn="ctr"/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ctr"/>
            <a:r>
              <a:rPr lang="fr-FR" sz="2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Organisation publique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119CD1EA-F3C1-BE29-B4DF-C934A3F3485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3" t="36711" r="19456" b="37981"/>
          <a:stretch/>
        </p:blipFill>
        <p:spPr>
          <a:xfrm>
            <a:off x="5243315" y="2911998"/>
            <a:ext cx="1705370" cy="1034003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945306F7-839C-0DFB-4FAB-68289931F14E}"/>
              </a:ext>
            </a:extLst>
          </p:cNvPr>
          <p:cNvSpPr txBox="1"/>
          <p:nvPr/>
        </p:nvSpPr>
        <p:spPr>
          <a:xfrm>
            <a:off x="516188" y="4091575"/>
            <a:ext cx="326431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Pourquoi?</a:t>
            </a:r>
          </a:p>
          <a:p>
            <a:pPr algn="ctr"/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ctr"/>
            <a:r>
              <a:rPr lang="fr-FR" sz="2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Lutte contre </a:t>
            </a:r>
          </a:p>
          <a:p>
            <a:pPr algn="ctr"/>
            <a:r>
              <a:rPr lang="fr-FR" sz="2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le faux-monnayage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2AC1918-16E7-5969-69D8-7D22E66C4DA5}"/>
              </a:ext>
            </a:extLst>
          </p:cNvPr>
          <p:cNvSpPr txBox="1"/>
          <p:nvPr/>
        </p:nvSpPr>
        <p:spPr>
          <a:xfrm>
            <a:off x="9004852" y="2275693"/>
            <a:ext cx="284409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Comment?</a:t>
            </a:r>
          </a:p>
          <a:p>
            <a:pPr algn="ctr"/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ctr"/>
            <a:r>
              <a:rPr lang="fr-FR" sz="2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Mise en place de méthodes de détection automatique basées sur les données</a:t>
            </a:r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E8E7ACDC-99A5-39B7-CFFB-3FD130BF63EA}"/>
              </a:ext>
            </a:extLst>
          </p:cNvPr>
          <p:cNvSpPr/>
          <p:nvPr/>
        </p:nvSpPr>
        <p:spPr>
          <a:xfrm rot="1325543" flipH="1">
            <a:off x="3394007" y="2888846"/>
            <a:ext cx="1597579" cy="221946"/>
          </a:xfrm>
          <a:prstGeom prst="rightArrow">
            <a:avLst/>
          </a:prstGeom>
          <a:solidFill>
            <a:srgbClr val="0028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EDB0BAA6-F9B3-3041-8159-6B6AE8521FE4}"/>
              </a:ext>
            </a:extLst>
          </p:cNvPr>
          <p:cNvSpPr/>
          <p:nvPr/>
        </p:nvSpPr>
        <p:spPr>
          <a:xfrm rot="19307514" flipH="1">
            <a:off x="3504874" y="4311869"/>
            <a:ext cx="1597579" cy="221946"/>
          </a:xfrm>
          <a:prstGeom prst="rightArrow">
            <a:avLst/>
          </a:prstGeom>
          <a:solidFill>
            <a:srgbClr val="0028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1EA14314-5985-4E1A-0245-8C7196839E9B}"/>
              </a:ext>
            </a:extLst>
          </p:cNvPr>
          <p:cNvSpPr/>
          <p:nvPr/>
        </p:nvSpPr>
        <p:spPr>
          <a:xfrm rot="10800000" flipH="1">
            <a:off x="7217325" y="3292097"/>
            <a:ext cx="1597579" cy="221946"/>
          </a:xfrm>
          <a:prstGeom prst="rightArrow">
            <a:avLst/>
          </a:prstGeom>
          <a:solidFill>
            <a:srgbClr val="0028B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7504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E89401C6-4AF3-4812-FFD5-38C1CFABF5D3}"/>
              </a:ext>
            </a:extLst>
          </p:cNvPr>
          <p:cNvSpPr txBox="1"/>
          <p:nvPr/>
        </p:nvSpPr>
        <p:spPr>
          <a:xfrm>
            <a:off x="4053567" y="294771"/>
            <a:ext cx="32238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Objectif du projet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ED64151-6142-C64A-D116-CFD888B80D49}"/>
              </a:ext>
            </a:extLst>
          </p:cNvPr>
          <p:cNvSpPr txBox="1"/>
          <p:nvPr/>
        </p:nvSpPr>
        <p:spPr>
          <a:xfrm>
            <a:off x="579295" y="939071"/>
            <a:ext cx="112186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Mise en place d’un algorithme de détection des faux billets</a:t>
            </a:r>
          </a:p>
          <a:p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Exploiter les caractéristiques  géométriques des billets</a:t>
            </a:r>
          </a:p>
          <a:p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Différencier automatiquement les billets authentiques des faux</a:t>
            </a:r>
          </a:p>
          <a:p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457200" indent="-4572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Déployer un modèle utilisable par  une machine  de contrôle spécialisée</a:t>
            </a:r>
          </a:p>
        </p:txBody>
      </p:sp>
      <p:pic>
        <p:nvPicPr>
          <p:cNvPr id="5" name="Graphique 4" descr="Mille avec un remplissage uni">
            <a:extLst>
              <a:ext uri="{FF2B5EF4-FFF2-40B4-BE49-F238E27FC236}">
                <a16:creationId xmlns:a16="http://schemas.microsoft.com/office/drawing/2014/main" id="{4E765AAF-6864-D6C1-94E6-74040A4118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36603" y="879546"/>
            <a:ext cx="605672" cy="605672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6FA054A-D979-D151-DF29-8822FA8AECB1}"/>
              </a:ext>
            </a:extLst>
          </p:cNvPr>
          <p:cNvSpPr txBox="1"/>
          <p:nvPr/>
        </p:nvSpPr>
        <p:spPr>
          <a:xfrm>
            <a:off x="4505932" y="3010880"/>
            <a:ext cx="3180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Source du projet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445DFF8-9D5D-ADA6-CE5B-25AB10BCE86F}"/>
              </a:ext>
            </a:extLst>
          </p:cNvPr>
          <p:cNvSpPr txBox="1"/>
          <p:nvPr/>
        </p:nvSpPr>
        <p:spPr>
          <a:xfrm>
            <a:off x="553782" y="3647869"/>
            <a:ext cx="31801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28BE"/>
              </a:buClr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</a:t>
            </a:r>
            <a:r>
              <a:rPr lang="fr-FR" sz="18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ichier source : billets.csv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8427A25-23EC-DD8C-0276-89DF7322E335}"/>
              </a:ext>
            </a:extLst>
          </p:cNvPr>
          <p:cNvSpPr txBox="1"/>
          <p:nvPr/>
        </p:nvSpPr>
        <p:spPr>
          <a:xfrm>
            <a:off x="6242105" y="3702938"/>
            <a:ext cx="34997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1500 </a:t>
            </a:r>
            <a:r>
              <a:rPr lang="fr-FR" sz="20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billets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2AC7000-8F0B-2E9C-02DB-CF33549251F9}"/>
              </a:ext>
            </a:extLst>
          </p:cNvPr>
          <p:cNvSpPr txBox="1"/>
          <p:nvPr/>
        </p:nvSpPr>
        <p:spPr>
          <a:xfrm>
            <a:off x="1489300" y="4364892"/>
            <a:ext cx="337096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Variables mesurées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(en mm):</a:t>
            </a:r>
            <a:endParaRPr lang="fr-FR" sz="105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Longueur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Hauteur droite et Hauteur gauche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Marge haute, Marge basse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Diagonale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C013A54-60B5-EE52-F07A-0BA5F4E12443}"/>
              </a:ext>
            </a:extLst>
          </p:cNvPr>
          <p:cNvSpPr txBox="1"/>
          <p:nvPr/>
        </p:nvSpPr>
        <p:spPr>
          <a:xfrm>
            <a:off x="6242105" y="4418159"/>
            <a:ext cx="47589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Variable cible :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nature du billet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(Vrai/Faux)</a:t>
            </a:r>
            <a:endParaRPr lang="fr-FR" sz="2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229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E89401C6-4AF3-4812-FFD5-38C1CFABF5D3}"/>
              </a:ext>
            </a:extLst>
          </p:cNvPr>
          <p:cNvSpPr txBox="1"/>
          <p:nvPr/>
        </p:nvSpPr>
        <p:spPr>
          <a:xfrm>
            <a:off x="2884521" y="330575"/>
            <a:ext cx="642295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Analyse exploratoire des données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19F01412-D486-E20D-BB92-6593DEA899AB}"/>
              </a:ext>
            </a:extLst>
          </p:cNvPr>
          <p:cNvSpPr txBox="1"/>
          <p:nvPr/>
        </p:nvSpPr>
        <p:spPr>
          <a:xfrm>
            <a:off x="493375" y="2976769"/>
            <a:ext cx="6692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Présence de 37 valeurs manquantes  dans la variable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b="1" i="1" dirty="0" err="1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margin_low</a:t>
            </a:r>
            <a:endParaRPr lang="fr-FR" sz="1800" b="1" i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601B6FE-2377-2A4B-DF2E-865E3A92007E}"/>
              </a:ext>
            </a:extLst>
          </p:cNvPr>
          <p:cNvSpPr txBox="1"/>
          <p:nvPr/>
        </p:nvSpPr>
        <p:spPr>
          <a:xfrm>
            <a:off x="493375" y="3514548"/>
            <a:ext cx="6489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sz="18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Choix d’une imputation par </a:t>
            </a:r>
            <a:r>
              <a:rPr lang="fr-FR" sz="18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régression linéaire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7F27FC8-5EE5-E00C-57D7-484782B50B14}"/>
              </a:ext>
            </a:extLst>
          </p:cNvPr>
          <p:cNvSpPr txBox="1"/>
          <p:nvPr/>
        </p:nvSpPr>
        <p:spPr>
          <a:xfrm>
            <a:off x="790854" y="4576118"/>
            <a:ext cx="306352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28BE"/>
              </a:buClr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0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donnée manquante</a:t>
            </a:r>
          </a:p>
          <a:p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Clr>
                <a:srgbClr val="0028BE"/>
              </a:buClr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Jeu de données complet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5DD4775-77E4-16BB-B752-F68602549573}"/>
              </a:ext>
            </a:extLst>
          </p:cNvPr>
          <p:cNvSpPr txBox="1"/>
          <p:nvPr/>
        </p:nvSpPr>
        <p:spPr>
          <a:xfrm>
            <a:off x="493376" y="4117182"/>
            <a:ext cx="6033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Après imputation:</a:t>
            </a:r>
            <a:endParaRPr lang="fr-FR" sz="18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D7F9E95-E54A-6064-A5C7-20724314758D}"/>
              </a:ext>
            </a:extLst>
          </p:cNvPr>
          <p:cNvSpPr txBox="1"/>
          <p:nvPr/>
        </p:nvSpPr>
        <p:spPr>
          <a:xfrm>
            <a:off x="493376" y="1561339"/>
            <a:ext cx="6033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Répartition équilibrée mais réaliste des classes</a:t>
            </a:r>
            <a:endParaRPr lang="fr-FR" sz="18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47160BC-AD7D-F159-3A27-B66A3E2FFE2A}"/>
              </a:ext>
            </a:extLst>
          </p:cNvPr>
          <p:cNvSpPr txBox="1"/>
          <p:nvPr/>
        </p:nvSpPr>
        <p:spPr>
          <a:xfrm>
            <a:off x="790854" y="2085462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1000</a:t>
            </a:r>
            <a:r>
              <a:rPr lang="fr-FR" sz="18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vrais billets</a:t>
            </a: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8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500</a:t>
            </a:r>
            <a:r>
              <a:rPr lang="fr-FR" sz="18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faux billets</a:t>
            </a:r>
            <a:endParaRPr lang="fr-FR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A2F5DA0-ECD6-1508-40CD-223D40C42AC6}"/>
              </a:ext>
            </a:extLst>
          </p:cNvPr>
          <p:cNvSpPr txBox="1"/>
          <p:nvPr/>
        </p:nvSpPr>
        <p:spPr>
          <a:xfrm>
            <a:off x="493374" y="1029085"/>
            <a:ext cx="6692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Logiciel utilisé :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b="1" i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Notebook </a:t>
            </a:r>
            <a:r>
              <a:rPr lang="fr-FR" b="1" i="1" dirty="0" err="1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Jupyter</a:t>
            </a:r>
            <a:r>
              <a:rPr lang="fr-FR" b="1" i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(langage python)</a:t>
            </a:r>
            <a:endParaRPr lang="fr-FR" sz="1800" b="1" i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170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635D720-1104-CAD0-7DB5-0437642F5A8C}"/>
              </a:ext>
            </a:extLst>
          </p:cNvPr>
          <p:cNvSpPr txBox="1"/>
          <p:nvPr/>
        </p:nvSpPr>
        <p:spPr>
          <a:xfrm>
            <a:off x="2907463" y="216151"/>
            <a:ext cx="6489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Distribution des dimensions en fonction du type de billets</a:t>
            </a:r>
            <a:r>
              <a:rPr lang="fr-FR" sz="18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49B8A79-F9DF-FFE9-9100-1312601AB88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54" r="6226"/>
          <a:stretch/>
        </p:blipFill>
        <p:spPr>
          <a:xfrm>
            <a:off x="2483691" y="1047683"/>
            <a:ext cx="6922610" cy="4100787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BDBEABC-2B72-EAC2-B78C-4331576D4E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903" y="1047683"/>
            <a:ext cx="653606" cy="441396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270482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E89401C6-4AF3-4812-FFD5-38C1CFABF5D3}"/>
              </a:ext>
            </a:extLst>
          </p:cNvPr>
          <p:cNvSpPr txBox="1"/>
          <p:nvPr/>
        </p:nvSpPr>
        <p:spPr>
          <a:xfrm>
            <a:off x="3025022" y="431710"/>
            <a:ext cx="614195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Prétraitement des données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9E1DED82-8DF5-0D21-5362-CC3AA0006635}"/>
              </a:ext>
            </a:extLst>
          </p:cNvPr>
          <p:cNvSpPr txBox="1"/>
          <p:nvPr/>
        </p:nvSpPr>
        <p:spPr>
          <a:xfrm>
            <a:off x="1233440" y="1283540"/>
            <a:ext cx="886406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Définition des variables :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X =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variables explicatives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( mesures des billets) </a:t>
            </a:r>
          </a:p>
          <a:p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y =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variable cible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(vrai ou faux billets)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Séparation du jeu de données :</a:t>
            </a:r>
            <a:endParaRPr lang="fr-FR" sz="2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Entrainement sur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80%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du jeu de données</a:t>
            </a:r>
            <a:endParaRPr lang="fr-FR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ctr"/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Test sur les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20%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restant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Standardisation des variables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Nécessaire pour les modèles sensibles aux échelles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(régression  logistique, </a:t>
            </a:r>
            <a:r>
              <a:rPr lang="fr-FR" b="1" dirty="0" err="1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knn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)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6716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E89401C6-4AF3-4812-FFD5-38C1CFABF5D3}"/>
              </a:ext>
            </a:extLst>
          </p:cNvPr>
          <p:cNvSpPr txBox="1"/>
          <p:nvPr/>
        </p:nvSpPr>
        <p:spPr>
          <a:xfrm>
            <a:off x="4928862" y="369508"/>
            <a:ext cx="23342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Modélisation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1847315-6913-9111-0C5B-ED70ADC49994}"/>
              </a:ext>
            </a:extLst>
          </p:cNvPr>
          <p:cNvSpPr txBox="1"/>
          <p:nvPr/>
        </p:nvSpPr>
        <p:spPr>
          <a:xfrm>
            <a:off x="1787385" y="1207559"/>
            <a:ext cx="86172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Objectifs : </a:t>
            </a:r>
          </a:p>
          <a:p>
            <a:pPr algn="ctr"/>
            <a:endParaRPr lang="fr-FR" sz="2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Tester plusieurs modèles de classifications</a:t>
            </a:r>
          </a:p>
          <a:p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Clr>
                <a:srgbClr val="0028BE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Régression Logistique</a:t>
            </a:r>
          </a:p>
          <a:p>
            <a:pPr>
              <a:buClr>
                <a:srgbClr val="0028BE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Clr>
                <a:srgbClr val="0028BE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K-</a:t>
            </a:r>
            <a:r>
              <a:rPr lang="fr-FR" b="1" dirty="0" err="1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nearest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b="1" dirty="0" err="1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neighbors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(KNN)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Clr>
                <a:srgbClr val="0028BE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Random Forest classifier </a:t>
            </a:r>
            <a:endParaRPr lang="fr-FR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Clr>
                <a:srgbClr val="0028BE"/>
              </a:buClr>
              <a:buFont typeface="Wingdings" panose="05000000000000000000" pitchFamily="2" charset="2"/>
              <a:buChar char="§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K-</a:t>
            </a:r>
            <a:r>
              <a:rPr lang="fr-FR" b="1" dirty="0" err="1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Means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(non supervisé)</a:t>
            </a: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§"/>
            </a:pPr>
            <a:endParaRPr lang="fr-FR" sz="24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2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Identifier  le modèle  le plus performant pour la détection des faux billets</a:t>
            </a:r>
            <a:endParaRPr lang="fr-FR" sz="24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endParaRPr lang="fr-FR" sz="28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0307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E89401C6-4AF3-4812-FFD5-38C1CFABF5D3}"/>
              </a:ext>
            </a:extLst>
          </p:cNvPr>
          <p:cNvSpPr txBox="1"/>
          <p:nvPr/>
        </p:nvSpPr>
        <p:spPr>
          <a:xfrm>
            <a:off x="4109105" y="216151"/>
            <a:ext cx="4318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Régression Logistique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0BCDD16-3233-B9AC-4DF7-C6ACDD76915A}"/>
              </a:ext>
            </a:extLst>
          </p:cNvPr>
          <p:cNvSpPr txBox="1"/>
          <p:nvPr/>
        </p:nvSpPr>
        <p:spPr>
          <a:xfrm>
            <a:off x="248046" y="759312"/>
            <a:ext cx="1122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1 :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Entraînement du modèle réduit de 2 colonnes de données</a:t>
            </a:r>
            <a:endParaRPr lang="fr-FR" sz="1600" b="1" i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15784D8-5C04-0CCB-1FCE-14AC029DE4AE}"/>
              </a:ext>
            </a:extLst>
          </p:cNvPr>
          <p:cNvSpPr txBox="1"/>
          <p:nvPr/>
        </p:nvSpPr>
        <p:spPr>
          <a:xfrm>
            <a:off x="7924616" y="1803536"/>
            <a:ext cx="1301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Résultats :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9303294-43AA-5476-39DA-6F8DD41FA84D}"/>
              </a:ext>
            </a:extLst>
          </p:cNvPr>
          <p:cNvSpPr txBox="1"/>
          <p:nvPr/>
        </p:nvSpPr>
        <p:spPr>
          <a:xfrm>
            <a:off x="248046" y="1627824"/>
            <a:ext cx="6828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18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2 : </a:t>
            </a:r>
            <a:r>
              <a:rPr lang="fr-FR" sz="18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Prédictions sur données test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BA45F3B-677E-A0B0-7101-D9E700E62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992" y="2159998"/>
            <a:ext cx="4615890" cy="4012202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D9D862B0-E2EB-F638-7ED0-D231D57E52F1}"/>
              </a:ext>
            </a:extLst>
          </p:cNvPr>
          <p:cNvSpPr txBox="1"/>
          <p:nvPr/>
        </p:nvSpPr>
        <p:spPr>
          <a:xfrm>
            <a:off x="7675508" y="4085630"/>
            <a:ext cx="1956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Interprétations :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E26B1A5-7E8E-5A37-ECE5-D7F95EC47152}"/>
              </a:ext>
            </a:extLst>
          </p:cNvPr>
          <p:cNvSpPr txBox="1"/>
          <p:nvPr/>
        </p:nvSpPr>
        <p:spPr>
          <a:xfrm>
            <a:off x="6465477" y="4488264"/>
            <a:ext cx="532411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0028BE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Modèle assez performant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.</a:t>
            </a:r>
          </a:p>
          <a:p>
            <a:pPr algn="l"/>
            <a:endParaRPr lang="fr-FR" sz="1400" b="0" i="0" dirty="0">
              <a:solidFill>
                <a:srgbClr val="002060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Clr>
                <a:srgbClr val="0028BE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Q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uelques erreurs  </a:t>
            </a:r>
            <a:r>
              <a:rPr lang="fr-FR" sz="1400" b="1" i="0" dirty="0">
                <a:solidFill>
                  <a:srgbClr val="0028BE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(4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i="0" dirty="0">
                <a:solidFill>
                  <a:srgbClr val="0028BE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faux prédits vrais)</a:t>
            </a:r>
          </a:p>
          <a:p>
            <a:pPr marL="285750" indent="-285750" algn="l">
              <a:buClr>
                <a:srgbClr val="0028BE"/>
              </a:buClr>
              <a:buFont typeface="Arial" panose="020B0604020202020204" pitchFamily="34" charset="0"/>
              <a:buChar char="•"/>
            </a:pPr>
            <a:endParaRPr lang="fr-FR" sz="14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Clr>
                <a:srgbClr val="0028BE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Nécessité d’améliorer les prédictions sur les faux billets 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94BCB41-D4D4-F9AC-25DA-1A52B7A9BCC6}"/>
              </a:ext>
            </a:extLst>
          </p:cNvPr>
          <p:cNvSpPr txBox="1"/>
          <p:nvPr/>
        </p:nvSpPr>
        <p:spPr>
          <a:xfrm>
            <a:off x="6465478" y="2377475"/>
            <a:ext cx="437653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correctement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détectés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106 / 110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classés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à tort comme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vrais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4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8BE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Vrais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classés à tort comme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: 0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V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rais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correctement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détectés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: 190 / 190</a:t>
            </a:r>
            <a:endParaRPr lang="fr-FR" sz="14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217BBF1-0207-E46F-7F2A-679EEA5CB7CF}"/>
              </a:ext>
            </a:extLst>
          </p:cNvPr>
          <p:cNvSpPr txBox="1"/>
          <p:nvPr/>
        </p:nvSpPr>
        <p:spPr>
          <a:xfrm>
            <a:off x="1218557" y="1157205"/>
            <a:ext cx="6097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Mise à l’écart des données des colonnes </a:t>
            </a:r>
            <a:r>
              <a:rPr lang="fr-FR" sz="1400" b="1" i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diagonal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i="1" dirty="0" err="1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height_left</a:t>
            </a:r>
            <a:r>
              <a:rPr lang="fr-FR" sz="1400" b="1" i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08287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62F93E5-98C2-F94E-5FFD-00B53EEE6714}"/>
              </a:ext>
            </a:extLst>
          </p:cNvPr>
          <p:cNvSpPr txBox="1"/>
          <p:nvPr/>
        </p:nvSpPr>
        <p:spPr>
          <a:xfrm>
            <a:off x="6434703" y="1809967"/>
            <a:ext cx="437653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correctement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détectés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110 / 110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classés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à tort comme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vrais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0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8BE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Vrais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classés à tort comme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: 1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V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rais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correctement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détectés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: 189 / 190</a:t>
            </a:r>
            <a:endParaRPr lang="fr-FR" sz="14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6DA0641-1746-8C76-F206-5CE42BCF5201}"/>
              </a:ext>
            </a:extLst>
          </p:cNvPr>
          <p:cNvSpPr txBox="1"/>
          <p:nvPr/>
        </p:nvSpPr>
        <p:spPr>
          <a:xfrm>
            <a:off x="5632175" y="4332699"/>
            <a:ext cx="6559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0028BE"/>
              </a:buClr>
              <a:buFont typeface="Wingdings" panose="05000000000000000000" pitchFamily="2" charset="2"/>
              <a:buChar char="Ø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Le  modèle présente d’excellentes performances avec 1 seule erreur de classification ( 1 vrai billet prédit comme faux)</a:t>
            </a:r>
            <a:endParaRPr lang="fr-FR" sz="1400" b="1" i="0" dirty="0">
              <a:solidFill>
                <a:srgbClr val="002060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6CC2FE6-E936-74D2-7DA4-8545C9D996D4}"/>
              </a:ext>
            </a:extLst>
          </p:cNvPr>
          <p:cNvSpPr txBox="1"/>
          <p:nvPr/>
        </p:nvSpPr>
        <p:spPr>
          <a:xfrm>
            <a:off x="354556" y="319545"/>
            <a:ext cx="8699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18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3 :  </a:t>
            </a:r>
            <a:r>
              <a:rPr lang="fr-FR" sz="18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Améliorer le modèle en ajustant le seuil de décision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3E46A52-F33D-F37C-3C2F-69B22E826C3E}"/>
              </a:ext>
            </a:extLst>
          </p:cNvPr>
          <p:cNvSpPr txBox="1"/>
          <p:nvPr/>
        </p:nvSpPr>
        <p:spPr>
          <a:xfrm>
            <a:off x="1545275" y="880090"/>
            <a:ext cx="33564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Seuils optimal retenu: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0,74</a:t>
            </a:r>
            <a:endParaRPr lang="fr-FR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1A9FB709-8785-1474-F197-2CF31534A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87" y="1431282"/>
            <a:ext cx="4879088" cy="4124691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174A4965-2B3D-E227-9E1C-BCA891AD4837}"/>
              </a:ext>
            </a:extLst>
          </p:cNvPr>
          <p:cNvSpPr txBox="1"/>
          <p:nvPr/>
        </p:nvSpPr>
        <p:spPr>
          <a:xfrm>
            <a:off x="7572125" y="1262006"/>
            <a:ext cx="2924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Résultats après optimisation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D052B7-CF07-435C-1EDC-65A24961C58E}"/>
              </a:ext>
            </a:extLst>
          </p:cNvPr>
          <p:cNvSpPr txBox="1"/>
          <p:nvPr/>
        </p:nvSpPr>
        <p:spPr>
          <a:xfrm>
            <a:off x="7178068" y="3746664"/>
            <a:ext cx="3468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Interprétation après optimisation</a:t>
            </a:r>
          </a:p>
        </p:txBody>
      </p:sp>
    </p:spTree>
    <p:extLst>
      <p:ext uri="{BB962C8B-B14F-4D97-AF65-F5344CB8AC3E}">
        <p14:creationId xmlns:p14="http://schemas.microsoft.com/office/powerpoint/2010/main" val="4076244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E89401C6-4AF3-4812-FFD5-38C1CFABF5D3}"/>
              </a:ext>
            </a:extLst>
          </p:cNvPr>
          <p:cNvSpPr txBox="1"/>
          <p:nvPr/>
        </p:nvSpPr>
        <p:spPr>
          <a:xfrm>
            <a:off x="3617191" y="216151"/>
            <a:ext cx="52257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K-</a:t>
            </a:r>
            <a:r>
              <a:rPr lang="fr-FR" sz="2800" b="1" dirty="0" err="1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nearest</a:t>
            </a:r>
            <a:r>
              <a:rPr lang="fr-FR" sz="28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2800" b="1" dirty="0" err="1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neighbors</a:t>
            </a:r>
            <a:r>
              <a:rPr lang="fr-FR" sz="28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28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(KNN)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951F1DB-3147-978C-1547-80447092AE21}"/>
              </a:ext>
            </a:extLst>
          </p:cNvPr>
          <p:cNvSpPr txBox="1"/>
          <p:nvPr/>
        </p:nvSpPr>
        <p:spPr>
          <a:xfrm>
            <a:off x="167291" y="866676"/>
            <a:ext cx="41878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1: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Définir le nombre de voisins optimal 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D7DBD3F-01B6-D6CB-2AB7-0F1B8CA4EF5B}"/>
              </a:ext>
            </a:extLst>
          </p:cNvPr>
          <p:cNvSpPr txBox="1"/>
          <p:nvPr/>
        </p:nvSpPr>
        <p:spPr>
          <a:xfrm>
            <a:off x="5665470" y="862578"/>
            <a:ext cx="6745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2: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Entrainement du modèle sur le jeu de données complet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5FCA3FA-897A-2594-F7D8-B535F46D444B}"/>
              </a:ext>
            </a:extLst>
          </p:cNvPr>
          <p:cNvSpPr txBox="1"/>
          <p:nvPr/>
        </p:nvSpPr>
        <p:spPr>
          <a:xfrm>
            <a:off x="200385" y="1871356"/>
            <a:ext cx="57661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3: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Prédictions sur données test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C25B6CF-ABAC-1FA3-B885-1100ECFD7322}"/>
              </a:ext>
            </a:extLst>
          </p:cNvPr>
          <p:cNvSpPr txBox="1"/>
          <p:nvPr/>
        </p:nvSpPr>
        <p:spPr>
          <a:xfrm>
            <a:off x="406613" y="1264583"/>
            <a:ext cx="5734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Nombre de voisins optimal déterminé par </a:t>
            </a:r>
            <a:r>
              <a:rPr lang="fr-FR" sz="1400" b="1" dirty="0" err="1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grid_search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9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6AECAA7-FF63-FE8A-A3D0-F079910B1519}"/>
              </a:ext>
            </a:extLst>
          </p:cNvPr>
          <p:cNvSpPr txBox="1"/>
          <p:nvPr/>
        </p:nvSpPr>
        <p:spPr>
          <a:xfrm>
            <a:off x="7965699" y="2113519"/>
            <a:ext cx="1301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Résultats: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6235EBF-D6CC-19E1-5620-D8B54A0876E1}"/>
              </a:ext>
            </a:extLst>
          </p:cNvPr>
          <p:cNvSpPr txBox="1"/>
          <p:nvPr/>
        </p:nvSpPr>
        <p:spPr>
          <a:xfrm>
            <a:off x="6526530" y="2561798"/>
            <a:ext cx="3930618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F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aux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correctement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détectés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106 /110 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classés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à tort comme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vrais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4</a:t>
            </a:r>
            <a:endParaRPr lang="fr-FR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Vrais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classés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à tort comme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0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V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rais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correctement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détectés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190 / 190</a:t>
            </a:r>
            <a:endParaRPr lang="fr-FR" sz="14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4EA6ABE-686C-49C4-478F-F4CC47196A2C}"/>
              </a:ext>
            </a:extLst>
          </p:cNvPr>
          <p:cNvSpPr txBox="1"/>
          <p:nvPr/>
        </p:nvSpPr>
        <p:spPr>
          <a:xfrm>
            <a:off x="7965699" y="4106298"/>
            <a:ext cx="19564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Interprétations: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695527B-430B-1023-D8C7-B7EC1334193C}"/>
              </a:ext>
            </a:extLst>
          </p:cNvPr>
          <p:cNvSpPr txBox="1"/>
          <p:nvPr/>
        </p:nvSpPr>
        <p:spPr>
          <a:xfrm>
            <a:off x="6560169" y="4595038"/>
            <a:ext cx="4831154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0028BE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Modèle assez performant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.</a:t>
            </a:r>
          </a:p>
          <a:p>
            <a:pPr algn="l"/>
            <a:endParaRPr lang="fr-FR" sz="900" b="0" i="0" dirty="0">
              <a:solidFill>
                <a:srgbClr val="002060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Clr>
                <a:srgbClr val="0028BE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Q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uelques erreurs </a:t>
            </a:r>
            <a:r>
              <a:rPr lang="fr-FR" sz="12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i="0" dirty="0">
                <a:solidFill>
                  <a:srgbClr val="0028BE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(4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i="0" dirty="0">
                <a:solidFill>
                  <a:srgbClr val="0028BE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faux prédits vrais)</a:t>
            </a:r>
          </a:p>
          <a:p>
            <a:pPr marL="285750" indent="-285750" algn="l">
              <a:buClr>
                <a:srgbClr val="0028BE"/>
              </a:buClr>
              <a:buFont typeface="Arial" panose="020B0604020202020204" pitchFamily="34" charset="0"/>
              <a:buChar char="•"/>
            </a:pPr>
            <a:endParaRPr lang="fr-FR" sz="14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Clr>
                <a:srgbClr val="0028BE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Nécessité d’améliorer les prédictions sur les faux billets 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2F90B9B5-4E7E-00E7-1144-AD18682B7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398" y="2336996"/>
            <a:ext cx="4295308" cy="3773792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445652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EF164244-0BBD-8B65-C45C-E913A1E0C1E4}"/>
              </a:ext>
            </a:extLst>
          </p:cNvPr>
          <p:cNvSpPr txBox="1"/>
          <p:nvPr/>
        </p:nvSpPr>
        <p:spPr>
          <a:xfrm>
            <a:off x="7572125" y="1262006"/>
            <a:ext cx="2924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Résultats après optimisation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725033D-0E2B-2953-7771-E4E7F0987AF8}"/>
              </a:ext>
            </a:extLst>
          </p:cNvPr>
          <p:cNvSpPr txBox="1"/>
          <p:nvPr/>
        </p:nvSpPr>
        <p:spPr>
          <a:xfrm>
            <a:off x="7056453" y="2112199"/>
            <a:ext cx="4234397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F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aux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correctement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détectés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: </a:t>
            </a:r>
            <a:r>
              <a:rPr lang="fr-FR" sz="1400" b="1" i="0" dirty="0">
                <a:solidFill>
                  <a:srgbClr val="0028BE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110 /110</a:t>
            </a: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classés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à tort comme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vrais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0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Vrais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classés à tort comme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 :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8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V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rais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correctement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détectés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182 /190</a:t>
            </a:r>
            <a:endParaRPr lang="fr-FR" sz="14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83EE5B4-2C75-C6DA-8397-7B9AB1032224}"/>
              </a:ext>
            </a:extLst>
          </p:cNvPr>
          <p:cNvSpPr txBox="1"/>
          <p:nvPr/>
        </p:nvSpPr>
        <p:spPr>
          <a:xfrm>
            <a:off x="7572125" y="3942717"/>
            <a:ext cx="3468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Interprétation après optimisation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C6AAD25-E9F2-0D3C-4806-D4FD0B50C167}"/>
              </a:ext>
            </a:extLst>
          </p:cNvPr>
          <p:cNvSpPr txBox="1"/>
          <p:nvPr/>
        </p:nvSpPr>
        <p:spPr>
          <a:xfrm>
            <a:off x="6262987" y="4459896"/>
            <a:ext cx="582132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0028BE"/>
              </a:buClr>
              <a:buFont typeface="Wingdings" panose="05000000000000000000" pitchFamily="2" charset="2"/>
              <a:buChar char="Ø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Le modèle détecte mieux les faux billets mais des erreurs persistent.</a:t>
            </a:r>
          </a:p>
          <a:p>
            <a:pPr marL="285750" indent="-285750" algn="l">
              <a:buClr>
                <a:srgbClr val="0028BE"/>
              </a:buClr>
              <a:buFont typeface="Wingdings" panose="05000000000000000000" pitchFamily="2" charset="2"/>
              <a:buChar char="Ø"/>
            </a:pPr>
            <a:endParaRPr lang="fr-FR" sz="1400" b="1" i="0" dirty="0">
              <a:solidFill>
                <a:srgbClr val="002060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Clr>
                <a:srgbClr val="0028BE"/>
              </a:buClr>
              <a:buFont typeface="Wingdings" panose="05000000000000000000" pitchFamily="2" charset="2"/>
              <a:buChar char="Ø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L’optimisation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de la prédiction  s’est faite au détriment de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celle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de la précision du classement des vrais billets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7BC6716-20DC-7B3A-30DB-CD519B41EFA0}"/>
              </a:ext>
            </a:extLst>
          </p:cNvPr>
          <p:cNvSpPr txBox="1"/>
          <p:nvPr/>
        </p:nvSpPr>
        <p:spPr>
          <a:xfrm>
            <a:off x="192012" y="518931"/>
            <a:ext cx="6334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4 :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Améliorer le modèle en ajustant le seuil de décision </a:t>
            </a:r>
            <a:endParaRPr lang="fr-FR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B6CA808-53A7-21E0-EB5E-143B1DA1BA1F}"/>
              </a:ext>
            </a:extLst>
          </p:cNvPr>
          <p:cNvSpPr txBox="1"/>
          <p:nvPr/>
        </p:nvSpPr>
        <p:spPr>
          <a:xfrm>
            <a:off x="1270405" y="1123506"/>
            <a:ext cx="5786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Seuil de décision optimal retenu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0.89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A5D30D46-E58E-4FFB-A348-4D44F7AC4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381" y="1728081"/>
            <a:ext cx="5240089" cy="4352822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511873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E89401C6-4AF3-4812-FFD5-38C1CFABF5D3}"/>
              </a:ext>
            </a:extLst>
          </p:cNvPr>
          <p:cNvSpPr txBox="1"/>
          <p:nvPr/>
        </p:nvSpPr>
        <p:spPr>
          <a:xfrm>
            <a:off x="3628338" y="148907"/>
            <a:ext cx="54873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Random Forest Classifier</a:t>
            </a:r>
            <a:endParaRPr lang="fr-FR" sz="28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1563B81-8A90-D7C5-B8C5-AA326ECB1D84}"/>
              </a:ext>
            </a:extLst>
          </p:cNvPr>
          <p:cNvSpPr txBox="1"/>
          <p:nvPr/>
        </p:nvSpPr>
        <p:spPr>
          <a:xfrm>
            <a:off x="461187" y="1052374"/>
            <a:ext cx="7062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1 :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Définition des hyperparamètres optimisés avec </a:t>
            </a:r>
            <a:r>
              <a:rPr lang="fr-FR" b="1" dirty="0" err="1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grid_search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E8F2A81-0245-0C93-1FBB-25C664F704AC}"/>
              </a:ext>
            </a:extLst>
          </p:cNvPr>
          <p:cNvSpPr txBox="1"/>
          <p:nvPr/>
        </p:nvSpPr>
        <p:spPr>
          <a:xfrm>
            <a:off x="6543242" y="1514974"/>
            <a:ext cx="51449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Nombre d’arbres : </a:t>
            </a: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100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endParaRPr lang="fr-FR" sz="16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ACB0D6A-1744-FDBD-E11D-B48E9CBB4B3D}"/>
              </a:ext>
            </a:extLst>
          </p:cNvPr>
          <p:cNvSpPr txBox="1"/>
          <p:nvPr/>
        </p:nvSpPr>
        <p:spPr>
          <a:xfrm>
            <a:off x="6543242" y="1853528"/>
            <a:ext cx="54348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Profondeur maximale optimale : </a:t>
            </a: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5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endParaRPr lang="fr-FR" sz="16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293B446-0093-6F8A-1ED3-C74F3A5C24F6}"/>
              </a:ext>
            </a:extLst>
          </p:cNvPr>
          <p:cNvSpPr txBox="1"/>
          <p:nvPr/>
        </p:nvSpPr>
        <p:spPr>
          <a:xfrm>
            <a:off x="789900" y="1514974"/>
            <a:ext cx="548738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Meilleur combinaison nombre d’arbre et de profondeur maximum :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738512A-356E-790B-D6DA-E2A055CF925E}"/>
              </a:ext>
            </a:extLst>
          </p:cNvPr>
          <p:cNvSpPr txBox="1"/>
          <p:nvPr/>
        </p:nvSpPr>
        <p:spPr>
          <a:xfrm>
            <a:off x="404191" y="2197311"/>
            <a:ext cx="6745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2: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Entrainement du modèle sur le jeu de données complet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817B7A9-287A-6891-0A68-BD61E64D5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8023" y="3261963"/>
            <a:ext cx="5434893" cy="2807912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39836FDC-D4D8-D234-C657-815CF818A035}"/>
              </a:ext>
            </a:extLst>
          </p:cNvPr>
          <p:cNvSpPr txBox="1"/>
          <p:nvPr/>
        </p:nvSpPr>
        <p:spPr>
          <a:xfrm>
            <a:off x="404191" y="2852074"/>
            <a:ext cx="27975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Exemple de forêt aléatoire</a:t>
            </a:r>
            <a:endParaRPr lang="fr-FR" sz="16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447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ECA72FE6-4233-F62B-1555-049E755DD3D5}"/>
              </a:ext>
            </a:extLst>
          </p:cNvPr>
          <p:cNvSpPr txBox="1"/>
          <p:nvPr/>
        </p:nvSpPr>
        <p:spPr>
          <a:xfrm>
            <a:off x="7791543" y="3676216"/>
            <a:ext cx="1956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Interprétations</a:t>
            </a: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: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217BB47-8BDA-A01A-E035-89364D63E7B1}"/>
              </a:ext>
            </a:extLst>
          </p:cNvPr>
          <p:cNvSpPr txBox="1"/>
          <p:nvPr/>
        </p:nvSpPr>
        <p:spPr>
          <a:xfrm>
            <a:off x="323752" y="192748"/>
            <a:ext cx="4258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3 :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Prédiction sur données test </a:t>
            </a:r>
            <a:endParaRPr lang="fr-FR" sz="16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FFB902C-C43A-1550-A312-9069649CE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525" y="987305"/>
            <a:ext cx="5053457" cy="4224690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90C0369-F9D5-5316-513D-B61F61153F44}"/>
              </a:ext>
            </a:extLst>
          </p:cNvPr>
          <p:cNvSpPr txBox="1"/>
          <p:nvPr/>
        </p:nvSpPr>
        <p:spPr>
          <a:xfrm>
            <a:off x="7934593" y="1120443"/>
            <a:ext cx="1301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Résultats: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6C657FB-DE87-269D-C77F-AC4C569AD6D7}"/>
              </a:ext>
            </a:extLst>
          </p:cNvPr>
          <p:cNvSpPr txBox="1"/>
          <p:nvPr/>
        </p:nvSpPr>
        <p:spPr>
          <a:xfrm>
            <a:off x="6808497" y="1713111"/>
            <a:ext cx="4234397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F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aux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correctement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détectés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: </a:t>
            </a:r>
            <a:r>
              <a:rPr lang="fr-FR" sz="1400" b="1" i="0" dirty="0">
                <a:solidFill>
                  <a:srgbClr val="0028BE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107 /110</a:t>
            </a: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classés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à tort comme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vrais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3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Vrais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classés à tort comme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 :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0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0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V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rais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correctement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détectés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190 /190</a:t>
            </a:r>
            <a:endParaRPr lang="fr-FR" sz="14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A49122A-CDF7-1435-6F69-EAE6F765F725}"/>
              </a:ext>
            </a:extLst>
          </p:cNvPr>
          <p:cNvSpPr txBox="1"/>
          <p:nvPr/>
        </p:nvSpPr>
        <p:spPr>
          <a:xfrm>
            <a:off x="6808497" y="4235650"/>
            <a:ext cx="4831154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0028BE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Modèle assez performant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.</a:t>
            </a:r>
          </a:p>
          <a:p>
            <a:pPr algn="l"/>
            <a:endParaRPr lang="fr-FR" sz="900" b="0" i="0" dirty="0">
              <a:solidFill>
                <a:srgbClr val="002060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Clr>
                <a:srgbClr val="0028BE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Q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uelques erreurs </a:t>
            </a:r>
            <a:r>
              <a:rPr lang="fr-FR" sz="12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i="0" dirty="0">
                <a:solidFill>
                  <a:srgbClr val="0028BE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(3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i="0" dirty="0">
                <a:solidFill>
                  <a:srgbClr val="0028BE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faux prédits vrais)</a:t>
            </a:r>
          </a:p>
          <a:p>
            <a:pPr marL="285750" indent="-285750" algn="l">
              <a:buClr>
                <a:srgbClr val="0028BE"/>
              </a:buClr>
              <a:buFont typeface="Arial" panose="020B0604020202020204" pitchFamily="34" charset="0"/>
              <a:buChar char="•"/>
            </a:pPr>
            <a:endParaRPr lang="fr-FR" sz="14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Clr>
                <a:srgbClr val="0028BE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Nécessité d’améliorer les prédictions sur les faux billets </a:t>
            </a:r>
          </a:p>
        </p:txBody>
      </p:sp>
    </p:spTree>
    <p:extLst>
      <p:ext uri="{BB962C8B-B14F-4D97-AF65-F5344CB8AC3E}">
        <p14:creationId xmlns:p14="http://schemas.microsoft.com/office/powerpoint/2010/main" val="321792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1563B81-8A90-D7C5-B8C5-AA326ECB1D84}"/>
              </a:ext>
            </a:extLst>
          </p:cNvPr>
          <p:cNvSpPr txBox="1"/>
          <p:nvPr/>
        </p:nvSpPr>
        <p:spPr>
          <a:xfrm>
            <a:off x="191921" y="179868"/>
            <a:ext cx="6761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4 : 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Améliorer le modèle en ajustant le seuil de décision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93029A4-2C1E-2B32-2425-8598D84CE131}"/>
              </a:ext>
            </a:extLst>
          </p:cNvPr>
          <p:cNvSpPr txBox="1"/>
          <p:nvPr/>
        </p:nvSpPr>
        <p:spPr>
          <a:xfrm>
            <a:off x="6356224" y="1541026"/>
            <a:ext cx="390122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F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aux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correctement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détecté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s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110 /110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4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classé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s à tort comme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vrais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: 0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4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Vrais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classés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à tort comme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3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4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V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rais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correctement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étectés : </a:t>
            </a:r>
            <a:r>
              <a:rPr lang="fr-FR" sz="1400" b="1" i="0" dirty="0">
                <a:solidFill>
                  <a:srgbClr val="0028BE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187 /190</a:t>
            </a:r>
            <a:endParaRPr lang="fr-FR" sz="14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9139303-629E-4205-439B-86C0A1C75E47}"/>
              </a:ext>
            </a:extLst>
          </p:cNvPr>
          <p:cNvSpPr txBox="1"/>
          <p:nvPr/>
        </p:nvSpPr>
        <p:spPr>
          <a:xfrm>
            <a:off x="5344944" y="4179816"/>
            <a:ext cx="64748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0028BE"/>
              </a:buClr>
              <a:buFont typeface="Wingdings" panose="05000000000000000000" pitchFamily="2" charset="2"/>
              <a:buChar char="Ø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Le modèle est très performant pour la détection des faux billets, mais il commet quelques erreurs concernant la détection des vrais billets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.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Clr>
                <a:srgbClr val="0028BE"/>
              </a:buClr>
              <a:buFont typeface="Arial" panose="020B0604020202020204" pitchFamily="34" charset="0"/>
              <a:buChar char="•"/>
            </a:pPr>
            <a:endParaRPr lang="fr-FR" sz="16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Clr>
                <a:srgbClr val="0028BE"/>
              </a:buClr>
              <a:buFont typeface="Wingdings" panose="05000000000000000000" pitchFamily="2" charset="2"/>
              <a:buChar char="Ø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L’optimisation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de la prédiction des faux billets s’est faite au détriment de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celle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des vrais.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D55FEA8-49BA-5C0E-B7FF-AD769A116A06}"/>
              </a:ext>
            </a:extLst>
          </p:cNvPr>
          <p:cNvSpPr txBox="1"/>
          <p:nvPr/>
        </p:nvSpPr>
        <p:spPr>
          <a:xfrm>
            <a:off x="1146465" y="854142"/>
            <a:ext cx="343547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Seuil de décision retenu: </a:t>
            </a: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0.79</a:t>
            </a:r>
            <a:endParaRPr lang="fr-FR" sz="16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607A545-0D1E-1C16-2E9F-ED9BA5F033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470" y="1571273"/>
            <a:ext cx="4906889" cy="4094031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D853EA85-9AF8-E7CF-CEAA-3EE5999BE2C0}"/>
              </a:ext>
            </a:extLst>
          </p:cNvPr>
          <p:cNvSpPr txBox="1"/>
          <p:nvPr/>
        </p:nvSpPr>
        <p:spPr>
          <a:xfrm>
            <a:off x="6953913" y="886303"/>
            <a:ext cx="2924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Résultats après optimisation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F47E884-3765-AA1D-A63E-A44B35EB5A83}"/>
              </a:ext>
            </a:extLst>
          </p:cNvPr>
          <p:cNvSpPr txBox="1"/>
          <p:nvPr/>
        </p:nvSpPr>
        <p:spPr>
          <a:xfrm>
            <a:off x="7075168" y="3716536"/>
            <a:ext cx="3468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Interprétation après optimisation</a:t>
            </a:r>
          </a:p>
        </p:txBody>
      </p:sp>
    </p:spTree>
    <p:extLst>
      <p:ext uri="{BB962C8B-B14F-4D97-AF65-F5344CB8AC3E}">
        <p14:creationId xmlns:p14="http://schemas.microsoft.com/office/powerpoint/2010/main" val="214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E89401C6-4AF3-4812-FFD5-38C1CFABF5D3}"/>
              </a:ext>
            </a:extLst>
          </p:cNvPr>
          <p:cNvSpPr txBox="1"/>
          <p:nvPr/>
        </p:nvSpPr>
        <p:spPr>
          <a:xfrm>
            <a:off x="5312106" y="109852"/>
            <a:ext cx="15677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 err="1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KMeans</a:t>
            </a:r>
            <a:endParaRPr lang="fr-FR" sz="3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410B5CA7-E0B6-5543-DF46-ECFE6E03A5FD}"/>
              </a:ext>
            </a:extLst>
          </p:cNvPr>
          <p:cNvSpPr txBox="1"/>
          <p:nvPr/>
        </p:nvSpPr>
        <p:spPr>
          <a:xfrm>
            <a:off x="0" y="899983"/>
            <a:ext cx="5006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1 : </a:t>
            </a: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Définition du nombre de clusters 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9211F04-769F-A4B2-277D-58FBDDE4753C}"/>
              </a:ext>
            </a:extLst>
          </p:cNvPr>
          <p:cNvSpPr txBox="1"/>
          <p:nvPr/>
        </p:nvSpPr>
        <p:spPr>
          <a:xfrm>
            <a:off x="316827" y="5347424"/>
            <a:ext cx="45940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2 : </a:t>
            </a: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Entraînement du modèle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9B0D80F1-536E-0E31-9461-3F34B9FC8353}"/>
              </a:ext>
            </a:extLst>
          </p:cNvPr>
          <p:cNvSpPr txBox="1"/>
          <p:nvPr/>
        </p:nvSpPr>
        <p:spPr>
          <a:xfrm>
            <a:off x="661996" y="4577103"/>
            <a:ext cx="315834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Nombre de clusters optimal: </a:t>
            </a: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2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endParaRPr lang="fr-FR" sz="16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04E1AB3-7C53-60CD-D8C3-2BB30179A6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96" y="1409267"/>
            <a:ext cx="2996720" cy="2600246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50F3AD6D-DE50-0641-0563-4851505772C7}"/>
              </a:ext>
            </a:extLst>
          </p:cNvPr>
          <p:cNvSpPr txBox="1"/>
          <p:nvPr/>
        </p:nvSpPr>
        <p:spPr>
          <a:xfrm>
            <a:off x="5006774" y="880132"/>
            <a:ext cx="6367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3 : </a:t>
            </a: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Réalisation de  la projection des données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51FB5A11-A6AB-E0F0-8265-0D763CA914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57" y="1364972"/>
            <a:ext cx="5340277" cy="4084674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24518C9B-CEE7-BFE1-9A15-0F1955F1F67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7103" t="4249" r="395" b="72271"/>
          <a:stretch/>
        </p:blipFill>
        <p:spPr>
          <a:xfrm>
            <a:off x="10217868" y="2690224"/>
            <a:ext cx="1564847" cy="894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383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B993B5B-C363-8073-A551-E425A910FE3B}"/>
              </a:ext>
            </a:extLst>
          </p:cNvPr>
          <p:cNvSpPr txBox="1"/>
          <p:nvPr/>
        </p:nvSpPr>
        <p:spPr>
          <a:xfrm>
            <a:off x="311425" y="216151"/>
            <a:ext cx="781578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Etape 3 : </a:t>
            </a: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Prédictions sur données test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E79D549-00DA-217D-85AA-1BBB3B885EDA}"/>
              </a:ext>
            </a:extLst>
          </p:cNvPr>
          <p:cNvSpPr txBox="1"/>
          <p:nvPr/>
        </p:nvSpPr>
        <p:spPr>
          <a:xfrm>
            <a:off x="6526530" y="1274267"/>
            <a:ext cx="394826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F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aux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correctement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détectés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: </a:t>
            </a:r>
            <a:r>
              <a:rPr lang="fr-FR" sz="1400" b="1" i="0" dirty="0">
                <a:solidFill>
                  <a:srgbClr val="0028BE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109 / 110</a:t>
            </a:r>
          </a:p>
          <a:p>
            <a:pPr algn="l"/>
            <a:endParaRPr lang="fr-FR" sz="14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classés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à tort comme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vrai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1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4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V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rais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classés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à tort comme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faux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2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4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V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rais billets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 correctement </a:t>
            </a: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détectés : </a:t>
            </a:r>
            <a:r>
              <a:rPr lang="fr-FR" sz="1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188 / 190</a:t>
            </a:r>
            <a:endParaRPr lang="fr-FR" sz="1400" b="0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A374C56-4EA7-3472-8805-480CB9FA749C}"/>
              </a:ext>
            </a:extLst>
          </p:cNvPr>
          <p:cNvSpPr txBox="1"/>
          <p:nvPr/>
        </p:nvSpPr>
        <p:spPr>
          <a:xfrm>
            <a:off x="8002079" y="554705"/>
            <a:ext cx="1301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Résultats: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1979A08-06AC-E3EE-8609-1D5473C7106B}"/>
              </a:ext>
            </a:extLst>
          </p:cNvPr>
          <p:cNvSpPr txBox="1"/>
          <p:nvPr/>
        </p:nvSpPr>
        <p:spPr>
          <a:xfrm>
            <a:off x="6526530" y="3886445"/>
            <a:ext cx="5301035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rgbClr val="0028BE"/>
              </a:buClr>
              <a:buFont typeface="Wingdings" panose="05000000000000000000" pitchFamily="2" charset="2"/>
              <a:buChar char="Ø"/>
            </a:pPr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Le modèle est performant pour la prédiction des faux billets, mais commet quelques erreurs dans la classification des vrais billets.</a:t>
            </a:r>
          </a:p>
          <a:p>
            <a:pPr algn="l">
              <a:buClr>
                <a:srgbClr val="0028BE"/>
              </a:buClr>
            </a:pPr>
            <a:endParaRPr lang="fr-FR" sz="16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171450" indent="-171450">
              <a:buClr>
                <a:srgbClr val="0028BE"/>
              </a:buClr>
              <a:buFont typeface="Wingdings" panose="05000000000000000000" pitchFamily="2" charset="2"/>
              <a:buChar char="Ø"/>
            </a:pPr>
            <a:r>
              <a:rPr lang="fr-FR" sz="1400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400" b="1" i="0" dirty="0">
                <a:solidFill>
                  <a:srgbClr val="002060"/>
                </a:solidFill>
                <a:effectLst/>
                <a:latin typeface="Carlito" panose="020F0502020204030204" pitchFamily="34" charset="0"/>
                <a:cs typeface="Carlito" panose="020F0502020204030204" pitchFamily="34" charset="0"/>
              </a:rPr>
              <a:t>Limites du modèle : il est non supervisé et non améliorable</a:t>
            </a:r>
            <a:endParaRPr lang="fr-FR" sz="1400" b="1" i="0" dirty="0">
              <a:solidFill>
                <a:srgbClr val="0028BE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algn="l"/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53FDFE8-EF52-2F07-1810-6C5209BDD5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00" y="985327"/>
            <a:ext cx="4737043" cy="4193942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68DC796-D7E9-DD80-9EFA-B6948459E629}"/>
              </a:ext>
            </a:extLst>
          </p:cNvPr>
          <p:cNvSpPr txBox="1"/>
          <p:nvPr/>
        </p:nvSpPr>
        <p:spPr>
          <a:xfrm>
            <a:off x="7855387" y="3180520"/>
            <a:ext cx="19564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Interprétations</a:t>
            </a: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3388737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E965458-CA65-1383-4DB6-6DE1DF74AF8A}"/>
              </a:ext>
            </a:extLst>
          </p:cNvPr>
          <p:cNvSpPr txBox="1"/>
          <p:nvPr/>
        </p:nvSpPr>
        <p:spPr>
          <a:xfrm>
            <a:off x="4119879" y="279635"/>
            <a:ext cx="4755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Sélection du modèle le plus adapté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C7F3726-530A-EF5A-FC0E-C76ECC8E3A19}"/>
              </a:ext>
            </a:extLst>
          </p:cNvPr>
          <p:cNvSpPr txBox="1"/>
          <p:nvPr/>
        </p:nvSpPr>
        <p:spPr>
          <a:xfrm>
            <a:off x="303480" y="866892"/>
            <a:ext cx="6223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0028BE"/>
              </a:buClr>
              <a:buFont typeface="Wingdings" panose="05000000000000000000" pitchFamily="2" charset="2"/>
              <a:buChar char="v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Critères de comparaisons: </a:t>
            </a: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1C6FF24-C01F-A70A-F7BC-756D287840D4}"/>
              </a:ext>
            </a:extLst>
          </p:cNvPr>
          <p:cNvSpPr txBox="1"/>
          <p:nvPr/>
        </p:nvSpPr>
        <p:spPr>
          <a:xfrm>
            <a:off x="331841" y="1267416"/>
            <a:ext cx="5896283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Les matrices de confusion</a:t>
            </a:r>
            <a:endParaRPr lang="fr-FR" sz="1600" b="1" i="0" dirty="0">
              <a:solidFill>
                <a:srgbClr val="002060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EF93E7C8-1FE2-CCAE-1045-6DE48FF981B9}"/>
              </a:ext>
            </a:extLst>
          </p:cNvPr>
          <p:cNvSpPr txBox="1"/>
          <p:nvPr/>
        </p:nvSpPr>
        <p:spPr>
          <a:xfrm>
            <a:off x="331841" y="4229359"/>
            <a:ext cx="5896283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Les rapports de classification</a:t>
            </a:r>
            <a:endParaRPr lang="fr-FR" sz="1600" b="1" i="0" dirty="0">
              <a:solidFill>
                <a:srgbClr val="002060"/>
              </a:solidFill>
              <a:effectLst/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0464DFA-CDD1-F923-3715-C59B7DDF7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9982" y="1678752"/>
            <a:ext cx="2544417" cy="2298105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965F69F-D85E-34F0-295B-2C8C725F1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968" y="1678753"/>
            <a:ext cx="2705633" cy="2298105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3466D71-EE6A-BFD9-05A8-6DE77889F4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8124" y="1667939"/>
            <a:ext cx="2705632" cy="2298105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2FD77BDB-6FB3-8449-0AB5-1B1060B75E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252" y="1689567"/>
            <a:ext cx="2544417" cy="2287291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59D97287-9581-5F7D-CAA6-02F39957E6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252" y="4782493"/>
            <a:ext cx="3676627" cy="1451042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57339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pic>
        <p:nvPicPr>
          <p:cNvPr id="16" name="Graphique 15" descr="Podium avec un remplissage uni">
            <a:extLst>
              <a:ext uri="{FF2B5EF4-FFF2-40B4-BE49-F238E27FC236}">
                <a16:creationId xmlns:a16="http://schemas.microsoft.com/office/drawing/2014/main" id="{61528991-9D56-54EE-FC15-50468FD5F6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8716" y="4096990"/>
            <a:ext cx="4494568" cy="2301019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AD1F18AD-CA6B-89DA-F979-45BFA9CB1870}"/>
              </a:ext>
            </a:extLst>
          </p:cNvPr>
          <p:cNvSpPr txBox="1"/>
          <p:nvPr/>
        </p:nvSpPr>
        <p:spPr>
          <a:xfrm>
            <a:off x="4843669" y="3498892"/>
            <a:ext cx="2504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FF000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1</a:t>
            </a:r>
          </a:p>
          <a:p>
            <a:pPr algn="ctr"/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Régression logistique </a:t>
            </a:r>
            <a:endParaRPr lang="fr-FR" sz="2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3B0165B-F763-D21A-A3D4-46A6B7B360ED}"/>
              </a:ext>
            </a:extLst>
          </p:cNvPr>
          <p:cNvSpPr txBox="1"/>
          <p:nvPr/>
        </p:nvSpPr>
        <p:spPr>
          <a:xfrm>
            <a:off x="1739348" y="4096990"/>
            <a:ext cx="2793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FF000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2</a:t>
            </a:r>
          </a:p>
          <a:p>
            <a:pPr algn="ctr"/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Random Forest Classifier </a:t>
            </a:r>
            <a:endParaRPr lang="fr-FR" sz="2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3AEA451-97D3-AB3E-7852-F1D5A380D4D4}"/>
              </a:ext>
            </a:extLst>
          </p:cNvPr>
          <p:cNvSpPr txBox="1"/>
          <p:nvPr/>
        </p:nvSpPr>
        <p:spPr>
          <a:xfrm>
            <a:off x="7858003" y="4832000"/>
            <a:ext cx="122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FF000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3</a:t>
            </a:r>
          </a:p>
          <a:p>
            <a:pPr algn="ctr"/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KNN </a:t>
            </a:r>
            <a:endParaRPr lang="fr-FR" sz="2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DA201761-AD97-AC77-EDEF-8CB0ADFEA223}"/>
              </a:ext>
            </a:extLst>
          </p:cNvPr>
          <p:cNvSpPr txBox="1"/>
          <p:nvPr/>
        </p:nvSpPr>
        <p:spPr>
          <a:xfrm>
            <a:off x="9680843" y="5403205"/>
            <a:ext cx="12215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solidFill>
                  <a:srgbClr val="FF000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4</a:t>
            </a:r>
          </a:p>
          <a:p>
            <a:pPr algn="ctr"/>
            <a:r>
              <a:rPr lang="fr-FR" sz="2000" b="1" dirty="0" err="1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KMeans</a:t>
            </a: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endParaRPr lang="fr-FR" sz="2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A323828-D82E-F590-D310-63017D3DA1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678" y="327992"/>
            <a:ext cx="10952922" cy="2917314"/>
          </a:xfrm>
          <a:prstGeom prst="rect">
            <a:avLst/>
          </a:prstGeom>
          <a:ln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6184171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E89401C6-4AF3-4812-FFD5-38C1CFABF5D3}"/>
              </a:ext>
            </a:extLst>
          </p:cNvPr>
          <p:cNvSpPr txBox="1"/>
          <p:nvPr/>
        </p:nvSpPr>
        <p:spPr>
          <a:xfrm>
            <a:off x="3779520" y="352921"/>
            <a:ext cx="65709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L’application fonctionnelle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6BA6300-5B3A-1303-A028-D11D67EC45E4}"/>
              </a:ext>
            </a:extLst>
          </p:cNvPr>
          <p:cNvSpPr txBox="1"/>
          <p:nvPr/>
        </p:nvSpPr>
        <p:spPr>
          <a:xfrm>
            <a:off x="3292164" y="1046763"/>
            <a:ext cx="6786113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sz="2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Composition:</a:t>
            </a:r>
          </a:p>
          <a:p>
            <a:endParaRPr lang="fr-FR" sz="11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Modèle retenu : </a:t>
            </a: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Régression logistique 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Seuil de décision appliqué :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0.74</a:t>
            </a: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 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Fonctionnalités : 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Lecture de nouveaux fichiers de données</a:t>
            </a:r>
          </a:p>
          <a:p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Harmonisation automatique des variables</a:t>
            </a:r>
          </a:p>
          <a:p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Prédiction du nombre de vrais et faux billets </a:t>
            </a: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(3 faux , 2 vrais)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Liste des étiquettes par catégorie </a:t>
            </a: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(A_1, A_2, A_3 = faux ,  A_4, A_5 = vrai)</a:t>
            </a:r>
          </a:p>
        </p:txBody>
      </p:sp>
    </p:spTree>
    <p:extLst>
      <p:ext uri="{BB962C8B-B14F-4D97-AF65-F5344CB8AC3E}">
        <p14:creationId xmlns:p14="http://schemas.microsoft.com/office/powerpoint/2010/main" val="2610998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E89401C6-4AF3-4812-FFD5-38C1CFABF5D3}"/>
              </a:ext>
            </a:extLst>
          </p:cNvPr>
          <p:cNvSpPr txBox="1"/>
          <p:nvPr/>
        </p:nvSpPr>
        <p:spPr>
          <a:xfrm>
            <a:off x="5108381" y="333042"/>
            <a:ext cx="19752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Conclusion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34AA516-7B25-BCE3-4917-D4CA9CCE20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470" y="6398009"/>
            <a:ext cx="861060" cy="24384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E6BA6300-5B3A-1303-A028-D11D67EC45E4}"/>
              </a:ext>
            </a:extLst>
          </p:cNvPr>
          <p:cNvSpPr txBox="1"/>
          <p:nvPr/>
        </p:nvSpPr>
        <p:spPr>
          <a:xfrm>
            <a:off x="2861634" y="1553659"/>
            <a:ext cx="646873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Objectif atteint : </a:t>
            </a:r>
            <a:r>
              <a:rPr lang="fr-FR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détection fiable des faux billets</a:t>
            </a:r>
            <a:endParaRPr lang="fr-FR" sz="2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endParaRPr lang="fr-FR" sz="11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Modèle robuste et interprétable </a:t>
            </a:r>
            <a:r>
              <a:rPr lang="fr-FR" sz="16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(0 faux billets laisser passé)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Perspectives : 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Intégration de nouvelles variables</a:t>
            </a:r>
          </a:p>
          <a:p>
            <a:endParaRPr lang="fr-FR" sz="1000" b="1" dirty="0">
              <a:solidFill>
                <a:srgbClr val="0028BE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Tests sur des données réelles supplémentaires</a:t>
            </a:r>
          </a:p>
          <a:p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Comparaison avec des modèles plus complexes</a:t>
            </a:r>
          </a:p>
          <a:p>
            <a:pPr>
              <a:buClr>
                <a:srgbClr val="002060"/>
              </a:buClr>
            </a:pPr>
            <a:endParaRPr lang="fr-FR" sz="1000" b="1" dirty="0">
              <a:solidFill>
                <a:srgbClr val="002060"/>
              </a:solidFill>
              <a:latin typeface="Carlito" panose="020F0502020204030204" pitchFamily="34" charset="0"/>
              <a:cs typeface="Carlit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9866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6BA73D0-877E-13A1-F403-06F37F37074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23" t="36711" r="19456" b="37981"/>
          <a:stretch/>
        </p:blipFill>
        <p:spPr>
          <a:xfrm>
            <a:off x="4398523" y="5101333"/>
            <a:ext cx="3394953" cy="882410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D2C6778-4D9D-50DA-FF63-8C3E6F767389}"/>
              </a:ext>
            </a:extLst>
          </p:cNvPr>
          <p:cNvSpPr txBox="1"/>
          <p:nvPr/>
        </p:nvSpPr>
        <p:spPr>
          <a:xfrm>
            <a:off x="3894041" y="6101258"/>
            <a:ext cx="4659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2060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Organisation nationale de lutte contre le faux-monnayage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FCFC905-9D8A-BBF1-F1F9-9C37DD061167}"/>
              </a:ext>
            </a:extLst>
          </p:cNvPr>
          <p:cNvSpPr txBox="1"/>
          <p:nvPr/>
        </p:nvSpPr>
        <p:spPr>
          <a:xfrm>
            <a:off x="4023089" y="2467865"/>
            <a:ext cx="41458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 b="1" dirty="0">
                <a:solidFill>
                  <a:srgbClr val="0028BE"/>
                </a:solidFill>
                <a:latin typeface="Carlito" panose="020F0502020204030204" pitchFamily="34" charset="0"/>
                <a:cs typeface="Carlito" panose="020F0502020204030204" pitchFamily="34" charset="0"/>
              </a:rPr>
              <a:t>Merci de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395982416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3953</TotalTime>
  <Words>1187</Words>
  <Application>Microsoft Office PowerPoint</Application>
  <PresentationFormat>Grand écran</PresentationFormat>
  <Paragraphs>261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Carlito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Remy Maupetit</dc:creator>
  <cp:lastModifiedBy>Remy Maupetit</cp:lastModifiedBy>
  <cp:revision>59</cp:revision>
  <dcterms:created xsi:type="dcterms:W3CDTF">2026-01-13T10:06:21Z</dcterms:created>
  <dcterms:modified xsi:type="dcterms:W3CDTF">2026-02-10T08:10:36Z</dcterms:modified>
</cp:coreProperties>
</file>